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Heading Now 71-78" charset="1" panose="00000000000000000000"/>
      <p:regular r:id="rId51"/>
    </p:embeddedFont>
    <p:embeddedFont>
      <p:font typeface="TT Firs Neue Bold" charset="1" panose="02000803030000020004"/>
      <p:regular r:id="rId52"/>
    </p:embeddedFont>
    <p:embeddedFont>
      <p:font typeface="TT Firs Neue" charset="1" panose="02000503030000020004"/>
      <p:regular r:id="rId53"/>
    </p:embeddedFont>
    <p:embeddedFont>
      <p:font typeface="Arial Unicode Bold" charset="1" panose="020B0704020202020204"/>
      <p:regular r:id="rId54"/>
    </p:embeddedFont>
    <p:embeddedFont>
      <p:font typeface="Pinata Marks" charset="1" panose="02000506000000020003"/>
      <p:regular r:id="rId55"/>
    </p:embeddedFont>
    <p:embeddedFont>
      <p:font typeface="Pinata Marks Medium" charset="1" panose="02000806060000020003"/>
      <p:regular r:id="rId56"/>
    </p:embeddedFont>
    <p:embeddedFont>
      <p:font typeface="Pinata Marks Bold" charset="1" panose="02000803050000020003"/>
      <p:regular r:id="rId57"/>
    </p:embeddedFont>
    <p:embeddedFont>
      <p:font typeface="Open Sans" charset="1" panose="020B0606030504020204"/>
      <p:regular r:id="rId58"/>
    </p:embeddedFont>
    <p:embeddedFont>
      <p:font typeface="TT Firs Neue Italics" charset="1" panose="02000503030000090004"/>
      <p:regular r:id="rId59"/>
    </p:embeddedFont>
    <p:embeddedFont>
      <p:font typeface="Heading Now 71-78 Bold" charset="1" panose="00000000000000000000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9482999" y="-386062"/>
            <a:ext cx="6044826" cy="12549216"/>
            <a:chOff x="0" y="0"/>
            <a:chExt cx="1592053" cy="3305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2053" cy="3305143"/>
            </a:xfrm>
            <a:custGeom>
              <a:avLst/>
              <a:gdLst/>
              <a:ahLst/>
              <a:cxnLst/>
              <a:rect r="r" b="b" t="t" l="l"/>
              <a:pathLst>
                <a:path h="3305143" w="1592053">
                  <a:moveTo>
                    <a:pt x="0" y="0"/>
                  </a:moveTo>
                  <a:lnTo>
                    <a:pt x="1592053" y="0"/>
                  </a:lnTo>
                  <a:lnTo>
                    <a:pt x="1592053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92053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-3724208" y="-7509125"/>
            <a:ext cx="5821151" cy="12549216"/>
            <a:chOff x="0" y="0"/>
            <a:chExt cx="1533143" cy="33051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3143" cy="3305143"/>
            </a:xfrm>
            <a:custGeom>
              <a:avLst/>
              <a:gdLst/>
              <a:ahLst/>
              <a:cxnLst/>
              <a:rect r="r" b="b" t="t" l="l"/>
              <a:pathLst>
                <a:path h="3305143" w="1533143">
                  <a:moveTo>
                    <a:pt x="0" y="0"/>
                  </a:moveTo>
                  <a:lnTo>
                    <a:pt x="1533143" y="0"/>
                  </a:lnTo>
                  <a:lnTo>
                    <a:pt x="1533143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33143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84427" y="0"/>
            <a:ext cx="8603573" cy="10287000"/>
            <a:chOff x="0" y="0"/>
            <a:chExt cx="8603361" cy="102867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-14845" t="0" r="-6450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772921">
            <a:off x="15377425" y="7723729"/>
            <a:ext cx="5821151" cy="12549216"/>
            <a:chOff x="0" y="0"/>
            <a:chExt cx="1533143" cy="33051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33143" cy="3305143"/>
            </a:xfrm>
            <a:custGeom>
              <a:avLst/>
              <a:gdLst/>
              <a:ahLst/>
              <a:cxnLst/>
              <a:rect r="r" b="b" t="t" l="l"/>
              <a:pathLst>
                <a:path h="3305143" w="1533143">
                  <a:moveTo>
                    <a:pt x="0" y="0"/>
                  </a:moveTo>
                  <a:lnTo>
                    <a:pt x="1533143" y="0"/>
                  </a:lnTo>
                  <a:lnTo>
                    <a:pt x="1533143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33143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90851" y="1668104"/>
            <a:ext cx="5841862" cy="4419006"/>
            <a:chOff x="0" y="0"/>
            <a:chExt cx="7789150" cy="589200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787483" cy="775031"/>
              <a:chOff x="0" y="0"/>
              <a:chExt cx="748145" cy="15309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48145" cy="153092"/>
              </a:xfrm>
              <a:custGeom>
                <a:avLst/>
                <a:gdLst/>
                <a:ahLst/>
                <a:cxnLst/>
                <a:rect r="r" b="b" t="t" l="l"/>
                <a:pathLst>
                  <a:path h="153092" w="748145">
                    <a:moveTo>
                      <a:pt x="0" y="0"/>
                    </a:moveTo>
                    <a:lnTo>
                      <a:pt x="748145" y="0"/>
                    </a:lnTo>
                    <a:lnTo>
                      <a:pt x="748145" y="153092"/>
                    </a:lnTo>
                    <a:lnTo>
                      <a:pt x="0" y="153092"/>
                    </a:lnTo>
                    <a:close/>
                  </a:path>
                </a:pathLst>
              </a:custGeom>
              <a:solidFill>
                <a:srgbClr val="07437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748145" cy="200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774474" y="0"/>
              <a:ext cx="786119" cy="775031"/>
              <a:chOff x="0" y="0"/>
              <a:chExt cx="155283" cy="15309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5283" cy="153092"/>
              </a:xfrm>
              <a:custGeom>
                <a:avLst/>
                <a:gdLst/>
                <a:ahLst/>
                <a:cxnLst/>
                <a:rect r="r" b="b" t="t" l="l"/>
                <a:pathLst>
                  <a:path h="153092" w="155283">
                    <a:moveTo>
                      <a:pt x="0" y="0"/>
                    </a:moveTo>
                    <a:lnTo>
                      <a:pt x="155283" y="0"/>
                    </a:lnTo>
                    <a:lnTo>
                      <a:pt x="155283" y="153092"/>
                    </a:lnTo>
                    <a:lnTo>
                      <a:pt x="0" y="15309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55283" cy="200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-5400000">
              <a:off x="4009004" y="177920"/>
              <a:ext cx="317060" cy="419190"/>
            </a:xfrm>
            <a:custGeom>
              <a:avLst/>
              <a:gdLst/>
              <a:ahLst/>
              <a:cxnLst/>
              <a:rect r="r" b="b" t="t" l="l"/>
              <a:pathLst>
                <a:path h="419190" w="317060">
                  <a:moveTo>
                    <a:pt x="0" y="0"/>
                  </a:moveTo>
                  <a:lnTo>
                    <a:pt x="317060" y="0"/>
                  </a:lnTo>
                  <a:lnTo>
                    <a:pt x="317060" y="419190"/>
                  </a:lnTo>
                  <a:lnTo>
                    <a:pt x="0" y="419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3337615"/>
              <a:ext cx="6137190" cy="2554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Qu</a:t>
              </a: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ality Assurance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98221" y="101130"/>
              <a:ext cx="3954821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5F6F6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Grupo 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636157"/>
              <a:ext cx="778915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Residência Tecnológica 2026.1 | Deloitte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6666" y="1325982"/>
            <a:ext cx="2802674" cy="4506128"/>
            <a:chOff x="0" y="0"/>
            <a:chExt cx="890986" cy="14325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0986" cy="1432524"/>
            </a:xfrm>
            <a:custGeom>
              <a:avLst/>
              <a:gdLst/>
              <a:ahLst/>
              <a:cxnLst/>
              <a:rect r="r" b="b" t="t" l="l"/>
              <a:pathLst>
                <a:path h="1432524" w="890986">
                  <a:moveTo>
                    <a:pt x="58009" y="0"/>
                  </a:moveTo>
                  <a:lnTo>
                    <a:pt x="832977" y="0"/>
                  </a:lnTo>
                  <a:cubicBezTo>
                    <a:pt x="848362" y="0"/>
                    <a:pt x="863117" y="6112"/>
                    <a:pt x="873995" y="16990"/>
                  </a:cubicBezTo>
                  <a:cubicBezTo>
                    <a:pt x="884874" y="27869"/>
                    <a:pt x="890986" y="42624"/>
                    <a:pt x="890986" y="58009"/>
                  </a:cubicBezTo>
                  <a:lnTo>
                    <a:pt x="890986" y="1374515"/>
                  </a:lnTo>
                  <a:cubicBezTo>
                    <a:pt x="890986" y="1389899"/>
                    <a:pt x="884874" y="1404654"/>
                    <a:pt x="873995" y="1415533"/>
                  </a:cubicBezTo>
                  <a:cubicBezTo>
                    <a:pt x="863117" y="1426412"/>
                    <a:pt x="848362" y="1432524"/>
                    <a:pt x="832977" y="1432524"/>
                  </a:cubicBezTo>
                  <a:lnTo>
                    <a:pt x="58009" y="1432524"/>
                  </a:lnTo>
                  <a:cubicBezTo>
                    <a:pt x="42624" y="1432524"/>
                    <a:pt x="27869" y="1426412"/>
                    <a:pt x="16990" y="1415533"/>
                  </a:cubicBezTo>
                  <a:cubicBezTo>
                    <a:pt x="6112" y="1404654"/>
                    <a:pt x="0" y="1389899"/>
                    <a:pt x="0" y="1374515"/>
                  </a:cubicBezTo>
                  <a:lnTo>
                    <a:pt x="0" y="58009"/>
                  </a:lnTo>
                  <a:cubicBezTo>
                    <a:pt x="0" y="42624"/>
                    <a:pt x="6112" y="27869"/>
                    <a:pt x="16990" y="16990"/>
                  </a:cubicBezTo>
                  <a:cubicBezTo>
                    <a:pt x="27869" y="6112"/>
                    <a:pt x="42624" y="0"/>
                    <a:pt x="58009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90986" cy="1470624"/>
            </a:xfrm>
            <a:prstGeom prst="rect">
              <a:avLst/>
            </a:prstGeom>
          </p:spPr>
          <p:txBody>
            <a:bodyPr anchor="ctr" rtlCol="false" tIns="40858" lIns="40858" bIns="40858" rIns="408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59715" y="1509437"/>
            <a:ext cx="2441917" cy="244191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068" y="0"/>
                  </a:moveTo>
                  <a:lnTo>
                    <a:pt x="755732" y="0"/>
                  </a:lnTo>
                  <a:cubicBezTo>
                    <a:pt x="770868" y="0"/>
                    <a:pt x="785383" y="6012"/>
                    <a:pt x="796085" y="16715"/>
                  </a:cubicBezTo>
                  <a:cubicBezTo>
                    <a:pt x="806788" y="27417"/>
                    <a:pt x="812800" y="41932"/>
                    <a:pt x="812800" y="57068"/>
                  </a:cubicBezTo>
                  <a:lnTo>
                    <a:pt x="812800" y="755732"/>
                  </a:lnTo>
                  <a:cubicBezTo>
                    <a:pt x="812800" y="770868"/>
                    <a:pt x="806788" y="785383"/>
                    <a:pt x="796085" y="796085"/>
                  </a:cubicBezTo>
                  <a:cubicBezTo>
                    <a:pt x="785383" y="806788"/>
                    <a:pt x="770868" y="812800"/>
                    <a:pt x="755732" y="812800"/>
                  </a:cubicBezTo>
                  <a:lnTo>
                    <a:pt x="57068" y="812800"/>
                  </a:lnTo>
                  <a:cubicBezTo>
                    <a:pt x="41932" y="812800"/>
                    <a:pt x="27417" y="806788"/>
                    <a:pt x="16715" y="796085"/>
                  </a:cubicBezTo>
                  <a:cubicBezTo>
                    <a:pt x="6012" y="785383"/>
                    <a:pt x="0" y="770868"/>
                    <a:pt x="0" y="755732"/>
                  </a:cubicBezTo>
                  <a:lnTo>
                    <a:pt x="0" y="57068"/>
                  </a:lnTo>
                  <a:cubicBezTo>
                    <a:pt x="0" y="41932"/>
                    <a:pt x="6012" y="27417"/>
                    <a:pt x="16715" y="16715"/>
                  </a:cubicBezTo>
                  <a:cubicBezTo>
                    <a:pt x="27417" y="6012"/>
                    <a:pt x="41932" y="0"/>
                    <a:pt x="57068" y="0"/>
                  </a:cubicBezTo>
                  <a:close/>
                </a:path>
              </a:pathLst>
            </a:custGeom>
            <a:blipFill>
              <a:blip r:embed="rId2"/>
              <a:stretch>
                <a:fillRect l="-7973" t="-37644" r="0" b="-631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65470" y="1344182"/>
            <a:ext cx="2802674" cy="4487944"/>
            <a:chOff x="0" y="0"/>
            <a:chExt cx="890986" cy="14267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0986" cy="1426743"/>
            </a:xfrm>
            <a:custGeom>
              <a:avLst/>
              <a:gdLst/>
              <a:ahLst/>
              <a:cxnLst/>
              <a:rect r="r" b="b" t="t" l="l"/>
              <a:pathLst>
                <a:path h="1426743" w="890986">
                  <a:moveTo>
                    <a:pt x="58009" y="0"/>
                  </a:moveTo>
                  <a:lnTo>
                    <a:pt x="832977" y="0"/>
                  </a:lnTo>
                  <a:cubicBezTo>
                    <a:pt x="848362" y="0"/>
                    <a:pt x="863117" y="6112"/>
                    <a:pt x="873995" y="16990"/>
                  </a:cubicBezTo>
                  <a:cubicBezTo>
                    <a:pt x="884874" y="27869"/>
                    <a:pt x="890986" y="42624"/>
                    <a:pt x="890986" y="58009"/>
                  </a:cubicBezTo>
                  <a:lnTo>
                    <a:pt x="890986" y="1368734"/>
                  </a:lnTo>
                  <a:cubicBezTo>
                    <a:pt x="890986" y="1384119"/>
                    <a:pt x="884874" y="1398874"/>
                    <a:pt x="873995" y="1409752"/>
                  </a:cubicBezTo>
                  <a:cubicBezTo>
                    <a:pt x="863117" y="1420631"/>
                    <a:pt x="848362" y="1426743"/>
                    <a:pt x="832977" y="1426743"/>
                  </a:cubicBezTo>
                  <a:lnTo>
                    <a:pt x="58009" y="1426743"/>
                  </a:lnTo>
                  <a:cubicBezTo>
                    <a:pt x="42624" y="1426743"/>
                    <a:pt x="27869" y="1420631"/>
                    <a:pt x="16990" y="1409752"/>
                  </a:cubicBezTo>
                  <a:cubicBezTo>
                    <a:pt x="6112" y="1398874"/>
                    <a:pt x="0" y="1384119"/>
                    <a:pt x="0" y="1368734"/>
                  </a:cubicBezTo>
                  <a:lnTo>
                    <a:pt x="0" y="58009"/>
                  </a:lnTo>
                  <a:cubicBezTo>
                    <a:pt x="0" y="42624"/>
                    <a:pt x="6112" y="27869"/>
                    <a:pt x="16990" y="16990"/>
                  </a:cubicBezTo>
                  <a:cubicBezTo>
                    <a:pt x="27869" y="6112"/>
                    <a:pt x="42624" y="0"/>
                    <a:pt x="58009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90986" cy="1464843"/>
            </a:xfrm>
            <a:prstGeom prst="rect">
              <a:avLst/>
            </a:prstGeom>
          </p:spPr>
          <p:txBody>
            <a:bodyPr anchor="ctr" rtlCol="false" tIns="40858" lIns="40858" bIns="40858" rIns="408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45848" y="1555301"/>
            <a:ext cx="2441917" cy="244191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068" y="0"/>
                  </a:moveTo>
                  <a:lnTo>
                    <a:pt x="755732" y="0"/>
                  </a:lnTo>
                  <a:cubicBezTo>
                    <a:pt x="770868" y="0"/>
                    <a:pt x="785383" y="6012"/>
                    <a:pt x="796085" y="16715"/>
                  </a:cubicBezTo>
                  <a:cubicBezTo>
                    <a:pt x="806788" y="27417"/>
                    <a:pt x="812800" y="41932"/>
                    <a:pt x="812800" y="57068"/>
                  </a:cubicBezTo>
                  <a:lnTo>
                    <a:pt x="812800" y="755732"/>
                  </a:lnTo>
                  <a:cubicBezTo>
                    <a:pt x="812800" y="770868"/>
                    <a:pt x="806788" y="785383"/>
                    <a:pt x="796085" y="796085"/>
                  </a:cubicBezTo>
                  <a:cubicBezTo>
                    <a:pt x="785383" y="806788"/>
                    <a:pt x="770868" y="812800"/>
                    <a:pt x="755732" y="812800"/>
                  </a:cubicBezTo>
                  <a:lnTo>
                    <a:pt x="57068" y="812800"/>
                  </a:lnTo>
                  <a:cubicBezTo>
                    <a:pt x="41932" y="812800"/>
                    <a:pt x="27417" y="806788"/>
                    <a:pt x="16715" y="796085"/>
                  </a:cubicBezTo>
                  <a:cubicBezTo>
                    <a:pt x="6012" y="785383"/>
                    <a:pt x="0" y="770868"/>
                    <a:pt x="0" y="755732"/>
                  </a:cubicBezTo>
                  <a:lnTo>
                    <a:pt x="0" y="57068"/>
                  </a:lnTo>
                  <a:cubicBezTo>
                    <a:pt x="0" y="41932"/>
                    <a:pt x="6012" y="27417"/>
                    <a:pt x="16715" y="16715"/>
                  </a:cubicBezTo>
                  <a:cubicBezTo>
                    <a:pt x="27417" y="6012"/>
                    <a:pt x="41932" y="0"/>
                    <a:pt x="5706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5711" r="0" b="-157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934121" y="1344182"/>
            <a:ext cx="2802674" cy="4488195"/>
            <a:chOff x="0" y="0"/>
            <a:chExt cx="890986" cy="14268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0986" cy="1426823"/>
            </a:xfrm>
            <a:custGeom>
              <a:avLst/>
              <a:gdLst/>
              <a:ahLst/>
              <a:cxnLst/>
              <a:rect r="r" b="b" t="t" l="l"/>
              <a:pathLst>
                <a:path h="1426823" w="890986">
                  <a:moveTo>
                    <a:pt x="58009" y="0"/>
                  </a:moveTo>
                  <a:lnTo>
                    <a:pt x="832977" y="0"/>
                  </a:lnTo>
                  <a:cubicBezTo>
                    <a:pt x="848362" y="0"/>
                    <a:pt x="863117" y="6112"/>
                    <a:pt x="873995" y="16990"/>
                  </a:cubicBezTo>
                  <a:cubicBezTo>
                    <a:pt x="884874" y="27869"/>
                    <a:pt x="890986" y="42624"/>
                    <a:pt x="890986" y="58009"/>
                  </a:cubicBezTo>
                  <a:lnTo>
                    <a:pt x="890986" y="1368814"/>
                  </a:lnTo>
                  <a:cubicBezTo>
                    <a:pt x="890986" y="1384199"/>
                    <a:pt x="884874" y="1398953"/>
                    <a:pt x="873995" y="1409832"/>
                  </a:cubicBezTo>
                  <a:cubicBezTo>
                    <a:pt x="863117" y="1420711"/>
                    <a:pt x="848362" y="1426823"/>
                    <a:pt x="832977" y="1426823"/>
                  </a:cubicBezTo>
                  <a:lnTo>
                    <a:pt x="58009" y="1426823"/>
                  </a:lnTo>
                  <a:cubicBezTo>
                    <a:pt x="42624" y="1426823"/>
                    <a:pt x="27869" y="1420711"/>
                    <a:pt x="16990" y="1409832"/>
                  </a:cubicBezTo>
                  <a:cubicBezTo>
                    <a:pt x="6112" y="1398953"/>
                    <a:pt x="0" y="1384199"/>
                    <a:pt x="0" y="1368814"/>
                  </a:cubicBezTo>
                  <a:lnTo>
                    <a:pt x="0" y="58009"/>
                  </a:lnTo>
                  <a:cubicBezTo>
                    <a:pt x="0" y="42624"/>
                    <a:pt x="6112" y="27869"/>
                    <a:pt x="16990" y="16990"/>
                  </a:cubicBezTo>
                  <a:cubicBezTo>
                    <a:pt x="27869" y="6112"/>
                    <a:pt x="42624" y="0"/>
                    <a:pt x="58009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90986" cy="1464923"/>
            </a:xfrm>
            <a:prstGeom prst="rect">
              <a:avLst/>
            </a:prstGeom>
          </p:spPr>
          <p:txBody>
            <a:bodyPr anchor="ctr" rtlCol="false" tIns="40858" lIns="40858" bIns="40858" rIns="408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172198" y="1558023"/>
            <a:ext cx="2326520" cy="2483525"/>
            <a:chOff x="0" y="0"/>
            <a:chExt cx="800947" cy="854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0947" cy="854999"/>
            </a:xfrm>
            <a:custGeom>
              <a:avLst/>
              <a:gdLst/>
              <a:ahLst/>
              <a:cxnLst/>
              <a:rect r="r" b="b" t="t" l="l"/>
              <a:pathLst>
                <a:path h="854999" w="800947">
                  <a:moveTo>
                    <a:pt x="56571" y="0"/>
                  </a:moveTo>
                  <a:lnTo>
                    <a:pt x="744377" y="0"/>
                  </a:lnTo>
                  <a:cubicBezTo>
                    <a:pt x="775620" y="0"/>
                    <a:pt x="800947" y="25328"/>
                    <a:pt x="800947" y="56571"/>
                  </a:cubicBezTo>
                  <a:lnTo>
                    <a:pt x="800947" y="798428"/>
                  </a:lnTo>
                  <a:cubicBezTo>
                    <a:pt x="800947" y="813432"/>
                    <a:pt x="794987" y="827821"/>
                    <a:pt x="784378" y="838430"/>
                  </a:cubicBezTo>
                  <a:cubicBezTo>
                    <a:pt x="773769" y="849039"/>
                    <a:pt x="759380" y="854999"/>
                    <a:pt x="744377" y="854999"/>
                  </a:cubicBezTo>
                  <a:lnTo>
                    <a:pt x="56571" y="854999"/>
                  </a:lnTo>
                  <a:cubicBezTo>
                    <a:pt x="25328" y="854999"/>
                    <a:pt x="0" y="829671"/>
                    <a:pt x="0" y="798428"/>
                  </a:cubicBezTo>
                  <a:lnTo>
                    <a:pt x="0" y="56571"/>
                  </a:lnTo>
                  <a:cubicBezTo>
                    <a:pt x="0" y="41567"/>
                    <a:pt x="5960" y="27178"/>
                    <a:pt x="16569" y="16569"/>
                  </a:cubicBezTo>
                  <a:cubicBezTo>
                    <a:pt x="27178" y="5960"/>
                    <a:pt x="41567" y="0"/>
                    <a:pt x="56571" y="0"/>
                  </a:cubicBezTo>
                  <a:close/>
                </a:path>
              </a:pathLst>
            </a:custGeom>
            <a:blipFill>
              <a:blip r:embed="rId4"/>
              <a:stretch>
                <a:fillRect l="-2901" t="0" r="-2901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198660" y="1325965"/>
            <a:ext cx="2802674" cy="4501244"/>
            <a:chOff x="0" y="0"/>
            <a:chExt cx="890986" cy="14309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0986" cy="1430971"/>
            </a:xfrm>
            <a:custGeom>
              <a:avLst/>
              <a:gdLst/>
              <a:ahLst/>
              <a:cxnLst/>
              <a:rect r="r" b="b" t="t" l="l"/>
              <a:pathLst>
                <a:path h="1430971" w="890986">
                  <a:moveTo>
                    <a:pt x="58009" y="0"/>
                  </a:moveTo>
                  <a:lnTo>
                    <a:pt x="832977" y="0"/>
                  </a:lnTo>
                  <a:cubicBezTo>
                    <a:pt x="848362" y="0"/>
                    <a:pt x="863117" y="6112"/>
                    <a:pt x="873995" y="16990"/>
                  </a:cubicBezTo>
                  <a:cubicBezTo>
                    <a:pt x="884874" y="27869"/>
                    <a:pt x="890986" y="42624"/>
                    <a:pt x="890986" y="58009"/>
                  </a:cubicBezTo>
                  <a:lnTo>
                    <a:pt x="890986" y="1372962"/>
                  </a:lnTo>
                  <a:cubicBezTo>
                    <a:pt x="890986" y="1388347"/>
                    <a:pt x="884874" y="1403102"/>
                    <a:pt x="873995" y="1413980"/>
                  </a:cubicBezTo>
                  <a:cubicBezTo>
                    <a:pt x="863117" y="1424859"/>
                    <a:pt x="848362" y="1430971"/>
                    <a:pt x="832977" y="1430971"/>
                  </a:cubicBezTo>
                  <a:lnTo>
                    <a:pt x="58009" y="1430971"/>
                  </a:lnTo>
                  <a:cubicBezTo>
                    <a:pt x="42624" y="1430971"/>
                    <a:pt x="27869" y="1424859"/>
                    <a:pt x="16990" y="1413980"/>
                  </a:cubicBezTo>
                  <a:cubicBezTo>
                    <a:pt x="6112" y="1403102"/>
                    <a:pt x="0" y="1388347"/>
                    <a:pt x="0" y="1372962"/>
                  </a:cubicBezTo>
                  <a:lnTo>
                    <a:pt x="0" y="58009"/>
                  </a:lnTo>
                  <a:cubicBezTo>
                    <a:pt x="0" y="42624"/>
                    <a:pt x="6112" y="27869"/>
                    <a:pt x="16990" y="16990"/>
                  </a:cubicBezTo>
                  <a:cubicBezTo>
                    <a:pt x="27869" y="6112"/>
                    <a:pt x="42624" y="0"/>
                    <a:pt x="58009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90986" cy="1469071"/>
            </a:xfrm>
            <a:prstGeom prst="rect">
              <a:avLst/>
            </a:prstGeom>
          </p:spPr>
          <p:txBody>
            <a:bodyPr anchor="ctr" rtlCol="false" tIns="40858" lIns="40858" bIns="40858" rIns="408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379038" y="1551726"/>
            <a:ext cx="2441917" cy="244191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068" y="0"/>
                  </a:moveTo>
                  <a:lnTo>
                    <a:pt x="755732" y="0"/>
                  </a:lnTo>
                  <a:cubicBezTo>
                    <a:pt x="770868" y="0"/>
                    <a:pt x="785383" y="6012"/>
                    <a:pt x="796085" y="16715"/>
                  </a:cubicBezTo>
                  <a:cubicBezTo>
                    <a:pt x="806788" y="27417"/>
                    <a:pt x="812800" y="41932"/>
                    <a:pt x="812800" y="57068"/>
                  </a:cubicBezTo>
                  <a:lnTo>
                    <a:pt x="812800" y="755732"/>
                  </a:lnTo>
                  <a:cubicBezTo>
                    <a:pt x="812800" y="770868"/>
                    <a:pt x="806788" y="785383"/>
                    <a:pt x="796085" y="796085"/>
                  </a:cubicBezTo>
                  <a:cubicBezTo>
                    <a:pt x="785383" y="806788"/>
                    <a:pt x="770868" y="812800"/>
                    <a:pt x="755732" y="812800"/>
                  </a:cubicBezTo>
                  <a:lnTo>
                    <a:pt x="57068" y="812800"/>
                  </a:lnTo>
                  <a:cubicBezTo>
                    <a:pt x="41932" y="812800"/>
                    <a:pt x="27417" y="806788"/>
                    <a:pt x="16715" y="796085"/>
                  </a:cubicBezTo>
                  <a:cubicBezTo>
                    <a:pt x="6012" y="785383"/>
                    <a:pt x="0" y="770868"/>
                    <a:pt x="0" y="755732"/>
                  </a:cubicBezTo>
                  <a:lnTo>
                    <a:pt x="0" y="57068"/>
                  </a:lnTo>
                  <a:cubicBezTo>
                    <a:pt x="0" y="41932"/>
                    <a:pt x="6012" y="27417"/>
                    <a:pt x="16715" y="16715"/>
                  </a:cubicBezTo>
                  <a:cubicBezTo>
                    <a:pt x="27417" y="6012"/>
                    <a:pt x="41932" y="0"/>
                    <a:pt x="57068" y="0"/>
                  </a:cubicBezTo>
                  <a:close/>
                </a:path>
              </a:pathLst>
            </a:custGeom>
            <a:blipFill>
              <a:blip r:embed="rId5"/>
              <a:stretch>
                <a:fillRect l="-18648" t="-42511" r="-46642" b="-15265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934121" y="5921732"/>
            <a:ext cx="2802674" cy="4367854"/>
            <a:chOff x="0" y="0"/>
            <a:chExt cx="3736899" cy="582380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3736899" cy="5823805"/>
              <a:chOff x="0" y="0"/>
              <a:chExt cx="890986" cy="138856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90986" cy="1388565"/>
              </a:xfrm>
              <a:custGeom>
                <a:avLst/>
                <a:gdLst/>
                <a:ahLst/>
                <a:cxnLst/>
                <a:rect r="r" b="b" t="t" l="l"/>
                <a:pathLst>
                  <a:path h="1388565" w="890986">
                    <a:moveTo>
                      <a:pt x="58009" y="0"/>
                    </a:moveTo>
                    <a:lnTo>
                      <a:pt x="832977" y="0"/>
                    </a:lnTo>
                    <a:cubicBezTo>
                      <a:pt x="848362" y="0"/>
                      <a:pt x="863117" y="6112"/>
                      <a:pt x="873995" y="16990"/>
                    </a:cubicBezTo>
                    <a:cubicBezTo>
                      <a:pt x="884874" y="27869"/>
                      <a:pt x="890986" y="42624"/>
                      <a:pt x="890986" y="58009"/>
                    </a:cubicBezTo>
                    <a:lnTo>
                      <a:pt x="890986" y="1330556"/>
                    </a:lnTo>
                    <a:cubicBezTo>
                      <a:pt x="890986" y="1345941"/>
                      <a:pt x="884874" y="1360696"/>
                      <a:pt x="873995" y="1371575"/>
                    </a:cubicBezTo>
                    <a:cubicBezTo>
                      <a:pt x="863117" y="1382454"/>
                      <a:pt x="848362" y="1388565"/>
                      <a:pt x="832977" y="1388565"/>
                    </a:cubicBezTo>
                    <a:lnTo>
                      <a:pt x="58009" y="1388565"/>
                    </a:lnTo>
                    <a:cubicBezTo>
                      <a:pt x="42624" y="1388565"/>
                      <a:pt x="27869" y="1382454"/>
                      <a:pt x="16990" y="1371575"/>
                    </a:cubicBezTo>
                    <a:cubicBezTo>
                      <a:pt x="6112" y="1360696"/>
                      <a:pt x="0" y="1345941"/>
                      <a:pt x="0" y="1330556"/>
                    </a:cubicBezTo>
                    <a:lnTo>
                      <a:pt x="0" y="58009"/>
                    </a:lnTo>
                    <a:cubicBezTo>
                      <a:pt x="0" y="42624"/>
                      <a:pt x="6112" y="27869"/>
                      <a:pt x="16990" y="16990"/>
                    </a:cubicBezTo>
                    <a:cubicBezTo>
                      <a:pt x="27869" y="6112"/>
                      <a:pt x="42624" y="0"/>
                      <a:pt x="58009" y="0"/>
                    </a:cubicBezTo>
                    <a:close/>
                  </a:path>
                </a:pathLst>
              </a:custGeom>
              <a:solidFill>
                <a:srgbClr val="242424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890986" cy="1426665"/>
              </a:xfrm>
              <a:prstGeom prst="rect">
                <a:avLst/>
              </a:prstGeom>
            </p:spPr>
            <p:txBody>
              <a:bodyPr anchor="ctr" rtlCol="false" tIns="40858" lIns="40858" bIns="40858" rIns="408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30731" y="244607"/>
              <a:ext cx="3255890" cy="3255890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7068" y="0"/>
                    </a:moveTo>
                    <a:lnTo>
                      <a:pt x="755732" y="0"/>
                    </a:lnTo>
                    <a:cubicBezTo>
                      <a:pt x="770868" y="0"/>
                      <a:pt x="785383" y="6012"/>
                      <a:pt x="796085" y="16715"/>
                    </a:cubicBezTo>
                    <a:cubicBezTo>
                      <a:pt x="806788" y="27417"/>
                      <a:pt x="812800" y="41932"/>
                      <a:pt x="812800" y="57068"/>
                    </a:cubicBezTo>
                    <a:lnTo>
                      <a:pt x="812800" y="755732"/>
                    </a:lnTo>
                    <a:cubicBezTo>
                      <a:pt x="812800" y="770868"/>
                      <a:pt x="806788" y="785383"/>
                      <a:pt x="796085" y="796085"/>
                    </a:cubicBezTo>
                    <a:cubicBezTo>
                      <a:pt x="785383" y="806788"/>
                      <a:pt x="770868" y="812800"/>
                      <a:pt x="755732" y="812800"/>
                    </a:cubicBezTo>
                    <a:lnTo>
                      <a:pt x="57068" y="812800"/>
                    </a:lnTo>
                    <a:cubicBezTo>
                      <a:pt x="41932" y="812800"/>
                      <a:pt x="27417" y="806788"/>
                      <a:pt x="16715" y="796085"/>
                    </a:cubicBezTo>
                    <a:cubicBezTo>
                      <a:pt x="6012" y="785383"/>
                      <a:pt x="0" y="770868"/>
                      <a:pt x="0" y="755732"/>
                    </a:cubicBezTo>
                    <a:lnTo>
                      <a:pt x="0" y="57068"/>
                    </a:lnTo>
                    <a:cubicBezTo>
                      <a:pt x="0" y="41932"/>
                      <a:pt x="6012" y="27417"/>
                      <a:pt x="16715" y="16715"/>
                    </a:cubicBezTo>
                    <a:cubicBezTo>
                      <a:pt x="27417" y="6012"/>
                      <a:pt x="41932" y="0"/>
                      <a:pt x="57068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16747" r="0" b="-16747"/>
                </a:stretch>
              </a:blip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240504" y="3716392"/>
              <a:ext cx="3255890" cy="1800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2"/>
                </a:lnSpc>
              </a:pPr>
              <a:r>
                <a:rPr lang="en-US" b="true" sz="2036" spc="-128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Wenderson Artur da Silva</a:t>
              </a:r>
            </a:p>
            <a:p>
              <a:pPr algn="ctr">
                <a:lnSpc>
                  <a:spcPts val="2052"/>
                </a:lnSpc>
              </a:pPr>
              <a:r>
                <a:rPr lang="en-US" sz="1800" spc="-113">
                  <a:solidFill>
                    <a:srgbClr val="FFFFFF"/>
                  </a:solidFill>
                  <a:latin typeface="Pinata Marks"/>
                  <a:ea typeface="Pinata Marks"/>
                  <a:cs typeface="Pinata Marks"/>
                  <a:sym typeface="Pinata Marks"/>
                </a:rPr>
                <a:t>(Mod. Evidências </a:t>
              </a:r>
            </a:p>
            <a:p>
              <a:pPr algn="ctr">
                <a:lnSpc>
                  <a:spcPts val="2052"/>
                </a:lnSpc>
              </a:pPr>
              <a:r>
                <a:rPr lang="en-US" sz="1800" spc="-113">
                  <a:solidFill>
                    <a:srgbClr val="FFFFFF"/>
                  </a:solidFill>
                  <a:latin typeface="Pinata Marks"/>
                  <a:ea typeface="Pinata Marks"/>
                  <a:cs typeface="Pinata Marks"/>
                  <a:sym typeface="Pinata Marks"/>
                </a:rPr>
                <a:t>Open New Account) | Teste de Interface )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459715" y="4135405"/>
            <a:ext cx="2441917" cy="140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236" spc="-140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Fellipe Nogueira Caluête</a:t>
            </a:r>
          </a:p>
          <a:p>
            <a:pPr algn="ctr">
              <a:lnSpc>
                <a:spcPts val="2051"/>
              </a:lnSpc>
            </a:pPr>
            <a:r>
              <a:rPr lang="en-US" b="true" sz="1799" spc="-113">
                <a:solidFill>
                  <a:srgbClr val="FFFFFF"/>
                </a:solidFill>
                <a:latin typeface="Pinata Marks Medium"/>
                <a:ea typeface="Pinata Marks Medium"/>
                <a:cs typeface="Pinata Marks Medium"/>
                <a:sym typeface="Pinata Marks Medium"/>
              </a:rPr>
              <a:t>(Mod. Evidências </a:t>
            </a:r>
          </a:p>
          <a:p>
            <a:pPr algn="ctr">
              <a:lnSpc>
                <a:spcPts val="2051"/>
              </a:lnSpc>
            </a:pPr>
            <a:r>
              <a:rPr lang="en-US" b="true" sz="1799" spc="-113">
                <a:solidFill>
                  <a:srgbClr val="FFFFFF"/>
                </a:solidFill>
                <a:latin typeface="Pinata Marks Medium"/>
                <a:ea typeface="Pinata Marks Medium"/>
                <a:cs typeface="Pinata Marks Medium"/>
                <a:sym typeface="Pinata Marks Medium"/>
              </a:rPr>
              <a:t>Accounts Overview  |  Transfer Funds)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45848" y="4263782"/>
            <a:ext cx="2441917" cy="140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b="true" sz="2236" spc="-140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Jefferson Ribeiro Dos Santos</a:t>
            </a:r>
          </a:p>
          <a:p>
            <a:pPr algn="ctr">
              <a:lnSpc>
                <a:spcPts val="2051"/>
              </a:lnSpc>
            </a:pPr>
            <a:r>
              <a:rPr lang="en-US" sz="1799" spc="-113">
                <a:solidFill>
                  <a:srgbClr val="FFFFFF"/>
                </a:solidFill>
                <a:latin typeface="Pinata Marks"/>
                <a:ea typeface="Pinata Marks"/>
                <a:cs typeface="Pinata Marks"/>
                <a:sym typeface="Pinata Marks"/>
              </a:rPr>
              <a:t>(Mod. Evidências</a:t>
            </a:r>
          </a:p>
          <a:p>
            <a:pPr algn="ctr" marL="0" indent="0" lvl="0">
              <a:lnSpc>
                <a:spcPts val="2051"/>
              </a:lnSpc>
            </a:pPr>
            <a:r>
              <a:rPr lang="en-US" sz="1799" spc="-113">
                <a:solidFill>
                  <a:srgbClr val="FFFFFF"/>
                </a:solidFill>
                <a:latin typeface="Pinata Marks"/>
                <a:ea typeface="Pinata Marks"/>
                <a:cs typeface="Pinata Marks"/>
                <a:sym typeface="Pinata Marks"/>
              </a:rPr>
              <a:t>Request Loan  |  Testes de Interface)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72198" y="4184296"/>
            <a:ext cx="2326520" cy="149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</a:pPr>
            <a:r>
              <a:rPr lang="en-US" b="true" sz="2240" spc="-141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Caio Henrique Santana do Nascimento</a:t>
            </a:r>
          </a:p>
          <a:p>
            <a:pPr algn="ctr">
              <a:lnSpc>
                <a:spcPts val="2051"/>
              </a:lnSpc>
            </a:pPr>
            <a:r>
              <a:rPr lang="en-US" b="true" sz="1799" spc="-113">
                <a:solidFill>
                  <a:srgbClr val="FFFFFF"/>
                </a:solidFill>
                <a:latin typeface="Pinata Marks Bold"/>
                <a:ea typeface="Pinata Marks Bold"/>
                <a:cs typeface="Pinata Marks Bold"/>
                <a:sym typeface="Pinata Marks Bold"/>
              </a:rPr>
              <a:t>(</a:t>
            </a:r>
            <a:r>
              <a:rPr lang="en-US" sz="1799" spc="-113">
                <a:solidFill>
                  <a:srgbClr val="FFFFFF"/>
                </a:solidFill>
                <a:latin typeface="Pinata Marks"/>
                <a:ea typeface="Pinata Marks"/>
                <a:cs typeface="Pinata Marks"/>
                <a:sym typeface="Pinata Marks"/>
              </a:rPr>
              <a:t>Mod. Evidências</a:t>
            </a:r>
          </a:p>
          <a:p>
            <a:pPr algn="ctr">
              <a:lnSpc>
                <a:spcPts val="2051"/>
              </a:lnSpc>
            </a:pPr>
            <a:r>
              <a:rPr lang="en-US" sz="1799" spc="-113">
                <a:solidFill>
                  <a:srgbClr val="FFFFFF"/>
                </a:solidFill>
                <a:latin typeface="Pinata Marks"/>
                <a:ea typeface="Pinata Marks"/>
                <a:cs typeface="Pinata Marks"/>
                <a:sym typeface="Pinata Marks"/>
              </a:rPr>
              <a:t>Request Loan)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79038" y="4417059"/>
            <a:ext cx="2441917" cy="116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b="true" sz="2236" spc="-140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Matheus Rufino Tavares dos Santos </a:t>
            </a:r>
          </a:p>
          <a:p>
            <a:pPr algn="ctr">
              <a:lnSpc>
                <a:spcPts val="2051"/>
              </a:lnSpc>
            </a:pPr>
            <a:r>
              <a:rPr lang="en-US" sz="1799" spc="-113">
                <a:solidFill>
                  <a:srgbClr val="FFFFFF"/>
                </a:solidFill>
                <a:latin typeface="Pinata Marks"/>
                <a:ea typeface="Pinata Marks"/>
                <a:cs typeface="Pinata Marks"/>
                <a:sym typeface="Pinata Marks"/>
              </a:rPr>
              <a:t>(Mod. Evidêcias </a:t>
            </a:r>
          </a:p>
          <a:p>
            <a:pPr algn="ctr">
              <a:lnSpc>
                <a:spcPts val="1583"/>
              </a:lnSpc>
            </a:pPr>
            <a:r>
              <a:rPr lang="en-US" sz="1799" spc="-113">
                <a:solidFill>
                  <a:srgbClr val="FFFFFF"/>
                </a:solidFill>
                <a:latin typeface="Pinata Marks"/>
                <a:ea typeface="Pinata Marks"/>
                <a:cs typeface="Pinata Marks"/>
                <a:sym typeface="Pinata Marks"/>
              </a:rPr>
              <a:t>Accounts Overview | Testes de Interface)</a:t>
            </a:r>
            <a:r>
              <a:rPr lang="en-US" b="true" sz="1799" spc="-113">
                <a:solidFill>
                  <a:srgbClr val="FFFFFF"/>
                </a:solidFill>
                <a:latin typeface="Pinata Marks Bold"/>
                <a:ea typeface="Pinata Marks Bold"/>
                <a:cs typeface="Pinata Marks Bold"/>
                <a:sym typeface="Pinata Marks Bold"/>
              </a:rPr>
              <a:t> 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52390" y="6050333"/>
            <a:ext cx="2739841" cy="4110652"/>
            <a:chOff x="0" y="0"/>
            <a:chExt cx="3653121" cy="548086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3653121" cy="5480869"/>
              <a:chOff x="0" y="0"/>
              <a:chExt cx="871011" cy="130679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71011" cy="1306799"/>
              </a:xfrm>
              <a:custGeom>
                <a:avLst/>
                <a:gdLst/>
                <a:ahLst/>
                <a:cxnLst/>
                <a:rect r="r" b="b" t="t" l="l"/>
                <a:pathLst>
                  <a:path h="1306799" w="871011">
                    <a:moveTo>
                      <a:pt x="59339" y="0"/>
                    </a:moveTo>
                    <a:lnTo>
                      <a:pt x="811672" y="0"/>
                    </a:lnTo>
                    <a:cubicBezTo>
                      <a:pt x="844444" y="0"/>
                      <a:pt x="871011" y="26567"/>
                      <a:pt x="871011" y="59339"/>
                    </a:cubicBezTo>
                    <a:lnTo>
                      <a:pt x="871011" y="1247460"/>
                    </a:lnTo>
                    <a:cubicBezTo>
                      <a:pt x="871011" y="1263198"/>
                      <a:pt x="864759" y="1278291"/>
                      <a:pt x="853631" y="1289419"/>
                    </a:cubicBezTo>
                    <a:cubicBezTo>
                      <a:pt x="842503" y="1300548"/>
                      <a:pt x="827409" y="1306799"/>
                      <a:pt x="811672" y="1306799"/>
                    </a:cubicBezTo>
                    <a:lnTo>
                      <a:pt x="59339" y="1306799"/>
                    </a:lnTo>
                    <a:cubicBezTo>
                      <a:pt x="26567" y="1306799"/>
                      <a:pt x="0" y="1280232"/>
                      <a:pt x="0" y="1247460"/>
                    </a:cubicBezTo>
                    <a:lnTo>
                      <a:pt x="0" y="59339"/>
                    </a:lnTo>
                    <a:cubicBezTo>
                      <a:pt x="0" y="26567"/>
                      <a:pt x="26567" y="0"/>
                      <a:pt x="59339" y="0"/>
                    </a:cubicBezTo>
                    <a:close/>
                  </a:path>
                </a:pathLst>
              </a:custGeom>
              <a:solidFill>
                <a:srgbClr val="242424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871011" cy="1344899"/>
              </a:xfrm>
              <a:prstGeom prst="rect">
                <a:avLst/>
              </a:prstGeom>
            </p:spPr>
            <p:txBody>
              <a:bodyPr anchor="ctr" rtlCol="false" tIns="40858" lIns="40858" bIns="40858" rIns="408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61613" y="229758"/>
              <a:ext cx="3329894" cy="3255890"/>
              <a:chOff x="0" y="0"/>
              <a:chExt cx="831274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3127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31274">
                    <a:moveTo>
                      <a:pt x="55799" y="0"/>
                    </a:moveTo>
                    <a:lnTo>
                      <a:pt x="775475" y="0"/>
                    </a:lnTo>
                    <a:cubicBezTo>
                      <a:pt x="790274" y="0"/>
                      <a:pt x="804467" y="5879"/>
                      <a:pt x="814931" y="16343"/>
                    </a:cubicBezTo>
                    <a:cubicBezTo>
                      <a:pt x="825396" y="26808"/>
                      <a:pt x="831274" y="41000"/>
                      <a:pt x="831274" y="55799"/>
                    </a:cubicBezTo>
                    <a:lnTo>
                      <a:pt x="831274" y="757001"/>
                    </a:lnTo>
                    <a:cubicBezTo>
                      <a:pt x="831274" y="787818"/>
                      <a:pt x="806292" y="812800"/>
                      <a:pt x="775475" y="812800"/>
                    </a:cubicBezTo>
                    <a:lnTo>
                      <a:pt x="55799" y="812800"/>
                    </a:lnTo>
                    <a:cubicBezTo>
                      <a:pt x="24982" y="812800"/>
                      <a:pt x="0" y="787818"/>
                      <a:pt x="0" y="757001"/>
                    </a:cubicBezTo>
                    <a:lnTo>
                      <a:pt x="0" y="55799"/>
                    </a:lnTo>
                    <a:cubicBezTo>
                      <a:pt x="0" y="24982"/>
                      <a:pt x="24982" y="0"/>
                      <a:pt x="55799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1136" r="0" b="-1136"/>
                </a:stretch>
              </a:blipFill>
            </p:spPr>
          </p:sp>
        </p:grpSp>
        <p:sp>
          <p:nvSpPr>
            <p:cNvPr name="TextBox 48" id="48"/>
            <p:cNvSpPr txBox="true"/>
            <p:nvPr/>
          </p:nvSpPr>
          <p:spPr>
            <a:xfrm rot="0">
              <a:off x="247836" y="3838073"/>
              <a:ext cx="3056529" cy="1192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b="true" sz="2236" spc="-140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Pedro Lucas Santos de Araújo</a:t>
              </a:r>
            </a:p>
            <a:p>
              <a:pPr algn="ctr">
                <a:lnSpc>
                  <a:spcPts val="2052"/>
                </a:lnSpc>
              </a:pPr>
              <a:r>
                <a:rPr lang="en-US" sz="1800" spc="-113">
                  <a:solidFill>
                    <a:srgbClr val="FFFFFF"/>
                  </a:solidFill>
                  <a:latin typeface="Pinata Marks"/>
                  <a:ea typeface="Pinata Marks"/>
                  <a:cs typeface="Pinata Marks"/>
                  <a:sym typeface="Pinata Marks"/>
                </a:rPr>
                <a:t>(Testes de API  )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788330" y="95970"/>
            <a:ext cx="2711340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Grupo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6992242" y="2746017"/>
            <a:ext cx="2107164" cy="12549216"/>
            <a:chOff x="0" y="0"/>
            <a:chExt cx="554973" cy="3305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4973" cy="3305143"/>
            </a:xfrm>
            <a:custGeom>
              <a:avLst/>
              <a:gdLst/>
              <a:ahLst/>
              <a:cxnLst/>
              <a:rect r="r" b="b" t="t" l="l"/>
              <a:pathLst>
                <a:path h="3305143" w="554973">
                  <a:moveTo>
                    <a:pt x="0" y="0"/>
                  </a:moveTo>
                  <a:lnTo>
                    <a:pt x="554973" y="0"/>
                  </a:lnTo>
                  <a:lnTo>
                    <a:pt x="554973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4973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-2058487" y="3500075"/>
            <a:ext cx="2388974" cy="12549216"/>
            <a:chOff x="0" y="0"/>
            <a:chExt cx="629195" cy="33051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195" cy="3305143"/>
            </a:xfrm>
            <a:custGeom>
              <a:avLst/>
              <a:gdLst/>
              <a:ahLst/>
              <a:cxnLst/>
              <a:rect r="r" b="b" t="t" l="l"/>
              <a:pathLst>
                <a:path h="3305143" w="629195">
                  <a:moveTo>
                    <a:pt x="0" y="0"/>
                  </a:moveTo>
                  <a:lnTo>
                    <a:pt x="629195" y="0"/>
                  </a:lnTo>
                  <a:lnTo>
                    <a:pt x="629195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195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941339" y="854347"/>
            <a:ext cx="1237270" cy="8371381"/>
            <a:chOff x="0" y="0"/>
            <a:chExt cx="325865" cy="2204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5865" cy="2204808"/>
            </a:xfrm>
            <a:custGeom>
              <a:avLst/>
              <a:gdLst/>
              <a:ahLst/>
              <a:cxnLst/>
              <a:rect r="r" b="b" t="t" l="l"/>
              <a:pathLst>
                <a:path h="2204808" w="325865">
                  <a:moveTo>
                    <a:pt x="0" y="0"/>
                  </a:moveTo>
                  <a:lnTo>
                    <a:pt x="325865" y="0"/>
                  </a:lnTo>
                  <a:lnTo>
                    <a:pt x="325865" y="2204808"/>
                  </a:lnTo>
                  <a:lnTo>
                    <a:pt x="0" y="2204808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25865" cy="225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97062" y="1000125"/>
            <a:ext cx="9893876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38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OBJ</a:t>
            </a:r>
            <a:r>
              <a:rPr lang="en-US" sz="6999" spc="-38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ETIVO DO PROJETO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744498" y="3391695"/>
            <a:ext cx="442738" cy="44273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7437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53582" y="3148012"/>
            <a:ext cx="14780836" cy="391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Garantir a qualidade e a confiabilidade das funcionalidades do ParaBank, identificando falhas, documentando inconsistências e contribuindo para a entrega de um sistema mais robusto e estável através de práticas modernas de QA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6205718" y="4012392"/>
            <a:ext cx="2107164" cy="12549216"/>
            <a:chOff x="0" y="0"/>
            <a:chExt cx="554973" cy="3305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4973" cy="3305143"/>
            </a:xfrm>
            <a:custGeom>
              <a:avLst/>
              <a:gdLst/>
              <a:ahLst/>
              <a:cxnLst/>
              <a:rect r="r" b="b" t="t" l="l"/>
              <a:pathLst>
                <a:path h="3305143" w="554973">
                  <a:moveTo>
                    <a:pt x="0" y="0"/>
                  </a:moveTo>
                  <a:lnTo>
                    <a:pt x="554973" y="0"/>
                  </a:lnTo>
                  <a:lnTo>
                    <a:pt x="554973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4973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-576656" y="-3921054"/>
            <a:ext cx="2363988" cy="8371381"/>
            <a:chOff x="0" y="0"/>
            <a:chExt cx="622614" cy="2204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2614" cy="2204808"/>
            </a:xfrm>
            <a:custGeom>
              <a:avLst/>
              <a:gdLst/>
              <a:ahLst/>
              <a:cxnLst/>
              <a:rect r="r" b="b" t="t" l="l"/>
              <a:pathLst>
                <a:path h="2204808" w="622614">
                  <a:moveTo>
                    <a:pt x="0" y="0"/>
                  </a:moveTo>
                  <a:lnTo>
                    <a:pt x="622614" y="0"/>
                  </a:lnTo>
                  <a:lnTo>
                    <a:pt x="622614" y="2204808"/>
                  </a:lnTo>
                  <a:lnTo>
                    <a:pt x="0" y="2204808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2614" cy="225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114276" y="-828139"/>
            <a:ext cx="729423" cy="12549216"/>
            <a:chOff x="0" y="0"/>
            <a:chExt cx="192111" cy="33051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111" cy="3305143"/>
            </a:xfrm>
            <a:custGeom>
              <a:avLst/>
              <a:gdLst/>
              <a:ahLst/>
              <a:cxnLst/>
              <a:rect r="r" b="b" t="t" l="l"/>
              <a:pathLst>
                <a:path h="3305143" w="192111">
                  <a:moveTo>
                    <a:pt x="0" y="0"/>
                  </a:moveTo>
                  <a:lnTo>
                    <a:pt x="192111" y="0"/>
                  </a:lnTo>
                  <a:lnTo>
                    <a:pt x="192111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2111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996867" y="3264796"/>
            <a:ext cx="10294267" cy="3757407"/>
          </a:xfrm>
          <a:custGeom>
            <a:avLst/>
            <a:gdLst/>
            <a:ahLst/>
            <a:cxnLst/>
            <a:rect r="r" b="b" t="t" l="l"/>
            <a:pathLst>
              <a:path h="3757407" w="10294267">
                <a:moveTo>
                  <a:pt x="0" y="0"/>
                </a:moveTo>
                <a:lnTo>
                  <a:pt x="10294266" y="0"/>
                </a:lnTo>
                <a:lnTo>
                  <a:pt x="10294266" y="3757408"/>
                </a:lnTo>
                <a:lnTo>
                  <a:pt x="0" y="375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71458" y="1000125"/>
            <a:ext cx="8545084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38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SISTEMA UTILIZADO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61741" y="1116464"/>
            <a:ext cx="3764518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38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ESCOPO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42886" y="1394448"/>
            <a:ext cx="34820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5F6F6"/>
                </a:solidFill>
                <a:latin typeface="TT Firs Neue"/>
                <a:ea typeface="TT Firs Neue"/>
                <a:cs typeface="TT Firs Neue"/>
                <a:sym typeface="TT Firs Neue"/>
              </a:rPr>
              <a:t>Thynk Unlimited</a:t>
            </a:r>
          </a:p>
        </p:txBody>
      </p:sp>
      <p:grpSp>
        <p:nvGrpSpPr>
          <p:cNvPr name="Group 4" id="4"/>
          <p:cNvGrpSpPr/>
          <p:nvPr/>
        </p:nvGrpSpPr>
        <p:grpSpPr>
          <a:xfrm rot="772921">
            <a:off x="17234949" y="-10075549"/>
            <a:ext cx="3481263" cy="13754938"/>
            <a:chOff x="0" y="0"/>
            <a:chExt cx="916876" cy="362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6876" cy="3622700"/>
            </a:xfrm>
            <a:custGeom>
              <a:avLst/>
              <a:gdLst/>
              <a:ahLst/>
              <a:cxnLst/>
              <a:rect r="r" b="b" t="t" l="l"/>
              <a:pathLst>
                <a:path h="3622700" w="916876">
                  <a:moveTo>
                    <a:pt x="0" y="0"/>
                  </a:moveTo>
                  <a:lnTo>
                    <a:pt x="916876" y="0"/>
                  </a:lnTo>
                  <a:lnTo>
                    <a:pt x="916876" y="3622700"/>
                  </a:lnTo>
                  <a:lnTo>
                    <a:pt x="0" y="3622700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16876" cy="367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772921">
            <a:off x="-2093041" y="6375578"/>
            <a:ext cx="3539888" cy="4863275"/>
            <a:chOff x="0" y="0"/>
            <a:chExt cx="932316" cy="12808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316" cy="1280863"/>
            </a:xfrm>
            <a:custGeom>
              <a:avLst/>
              <a:gdLst/>
              <a:ahLst/>
              <a:cxnLst/>
              <a:rect r="r" b="b" t="t" l="l"/>
              <a:pathLst>
                <a:path h="1280863" w="932316">
                  <a:moveTo>
                    <a:pt x="0" y="0"/>
                  </a:moveTo>
                  <a:lnTo>
                    <a:pt x="932316" y="0"/>
                  </a:lnTo>
                  <a:lnTo>
                    <a:pt x="932316" y="1280863"/>
                  </a:lnTo>
                  <a:lnTo>
                    <a:pt x="0" y="1280863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32316" cy="132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772921">
            <a:off x="16350576" y="2512799"/>
            <a:ext cx="1644215" cy="12549216"/>
            <a:chOff x="0" y="0"/>
            <a:chExt cx="433044" cy="33051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3044" cy="3305143"/>
            </a:xfrm>
            <a:custGeom>
              <a:avLst/>
              <a:gdLst/>
              <a:ahLst/>
              <a:cxnLst/>
              <a:rect r="r" b="b" t="t" l="l"/>
              <a:pathLst>
                <a:path h="3305143" w="433044">
                  <a:moveTo>
                    <a:pt x="0" y="0"/>
                  </a:moveTo>
                  <a:lnTo>
                    <a:pt x="433044" y="0"/>
                  </a:lnTo>
                  <a:lnTo>
                    <a:pt x="433044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3044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772921">
            <a:off x="-2022039" y="-1277179"/>
            <a:ext cx="3397885" cy="8773181"/>
            <a:chOff x="0" y="0"/>
            <a:chExt cx="894916" cy="23106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4916" cy="2310632"/>
            </a:xfrm>
            <a:custGeom>
              <a:avLst/>
              <a:gdLst/>
              <a:ahLst/>
              <a:cxnLst/>
              <a:rect r="r" b="b" t="t" l="l"/>
              <a:pathLst>
                <a:path h="2310632" w="894916">
                  <a:moveTo>
                    <a:pt x="0" y="0"/>
                  </a:moveTo>
                  <a:lnTo>
                    <a:pt x="894916" y="0"/>
                  </a:lnTo>
                  <a:lnTo>
                    <a:pt x="894916" y="2310632"/>
                  </a:lnTo>
                  <a:lnTo>
                    <a:pt x="0" y="2310632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94916" cy="2358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08241" y="3535301"/>
            <a:ext cx="4934967" cy="808255"/>
            <a:chOff x="0" y="0"/>
            <a:chExt cx="6579955" cy="1077674"/>
          </a:xfrm>
        </p:grpSpPr>
        <p:sp>
          <p:nvSpPr>
            <p:cNvPr name="Freeform 17" id="17"/>
            <p:cNvSpPr/>
            <p:nvPr/>
          </p:nvSpPr>
          <p:spPr>
            <a:xfrm flipH="true" flipV="false" rot="0">
              <a:off x="0" y="0"/>
              <a:ext cx="1077674" cy="1077674"/>
            </a:xfrm>
            <a:custGeom>
              <a:avLst/>
              <a:gdLst/>
              <a:ahLst/>
              <a:cxnLst/>
              <a:rect r="r" b="b" t="t" l="l"/>
              <a:pathLst>
                <a:path h="1077674" w="1077674">
                  <a:moveTo>
                    <a:pt x="1077674" y="0"/>
                  </a:moveTo>
                  <a:lnTo>
                    <a:pt x="0" y="0"/>
                  </a:lnTo>
                  <a:lnTo>
                    <a:pt x="0" y="1077674"/>
                  </a:lnTo>
                  <a:lnTo>
                    <a:pt x="1077674" y="1077674"/>
                  </a:lnTo>
                  <a:lnTo>
                    <a:pt x="107767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344374" y="94564"/>
              <a:ext cx="5235582" cy="77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Fora </a:t>
              </a:r>
              <a:r>
                <a:rPr lang="en-US" b="true" sz="38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do escopo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42886" y="3535301"/>
            <a:ext cx="5556008" cy="3575757"/>
            <a:chOff x="0" y="0"/>
            <a:chExt cx="7408010" cy="4767676"/>
          </a:xfrm>
        </p:grpSpPr>
        <p:sp>
          <p:nvSpPr>
            <p:cNvPr name="Freeform 20" id="20"/>
            <p:cNvSpPr/>
            <p:nvPr/>
          </p:nvSpPr>
          <p:spPr>
            <a:xfrm flipH="true" flipV="false" rot="0">
              <a:off x="0" y="0"/>
              <a:ext cx="1077674" cy="1077674"/>
            </a:xfrm>
            <a:custGeom>
              <a:avLst/>
              <a:gdLst/>
              <a:ahLst/>
              <a:cxnLst/>
              <a:rect r="r" b="b" t="t" l="l"/>
              <a:pathLst>
                <a:path h="1077674" w="1077674">
                  <a:moveTo>
                    <a:pt x="1077674" y="0"/>
                  </a:moveTo>
                  <a:lnTo>
                    <a:pt x="0" y="0"/>
                  </a:lnTo>
                  <a:lnTo>
                    <a:pt x="0" y="1077674"/>
                  </a:lnTo>
                  <a:lnTo>
                    <a:pt x="1077674" y="1077674"/>
                  </a:lnTo>
                  <a:lnTo>
                    <a:pt x="107767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340579" y="154662"/>
              <a:ext cx="6067431" cy="77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</a:t>
              </a:r>
              <a:r>
                <a:rPr lang="en-US" b="true" sz="38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entro do escopo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5620" y="1549906"/>
              <a:ext cx="7372391" cy="3217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758" indent="-377879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Accounts Overview</a:t>
              </a:r>
            </a:p>
            <a:p>
              <a:pPr algn="l" marL="755758" indent="-377879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Open New Account</a:t>
              </a:r>
            </a:p>
            <a:p>
              <a:pPr algn="l" marL="755758" indent="-377879" lvl="1">
                <a:lnSpc>
                  <a:spcPts val="49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Transfer Funds</a:t>
              </a:r>
            </a:p>
            <a:p>
              <a:pPr algn="l" marL="755758" indent="-377879" lvl="1">
                <a:lnSpc>
                  <a:spcPts val="49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Request Loan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408241" y="4678680"/>
            <a:ext cx="5060007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Bill Pay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ind Transactions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Up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date Contact Info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234949" y="-10075549"/>
            <a:ext cx="3481263" cy="13754938"/>
            <a:chOff x="0" y="0"/>
            <a:chExt cx="916876" cy="362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876" cy="3622700"/>
            </a:xfrm>
            <a:custGeom>
              <a:avLst/>
              <a:gdLst/>
              <a:ahLst/>
              <a:cxnLst/>
              <a:rect r="r" b="b" t="t" l="l"/>
              <a:pathLst>
                <a:path h="3622700" w="916876">
                  <a:moveTo>
                    <a:pt x="0" y="0"/>
                  </a:moveTo>
                  <a:lnTo>
                    <a:pt x="916876" y="0"/>
                  </a:lnTo>
                  <a:lnTo>
                    <a:pt x="916876" y="3622700"/>
                  </a:lnTo>
                  <a:lnTo>
                    <a:pt x="0" y="3622700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16876" cy="367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-2093041" y="6375578"/>
            <a:ext cx="3539888" cy="4863275"/>
            <a:chOff x="0" y="0"/>
            <a:chExt cx="932316" cy="1280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2316" cy="1280863"/>
            </a:xfrm>
            <a:custGeom>
              <a:avLst/>
              <a:gdLst/>
              <a:ahLst/>
              <a:cxnLst/>
              <a:rect r="r" b="b" t="t" l="l"/>
              <a:pathLst>
                <a:path h="1280863" w="932316">
                  <a:moveTo>
                    <a:pt x="0" y="0"/>
                  </a:moveTo>
                  <a:lnTo>
                    <a:pt x="932316" y="0"/>
                  </a:lnTo>
                  <a:lnTo>
                    <a:pt x="932316" y="1280863"/>
                  </a:lnTo>
                  <a:lnTo>
                    <a:pt x="0" y="1280863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32316" cy="132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16350576" y="2512799"/>
            <a:ext cx="1644215" cy="12549216"/>
            <a:chOff x="0" y="0"/>
            <a:chExt cx="433044" cy="33051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3044" cy="3305143"/>
            </a:xfrm>
            <a:custGeom>
              <a:avLst/>
              <a:gdLst/>
              <a:ahLst/>
              <a:cxnLst/>
              <a:rect r="r" b="b" t="t" l="l"/>
              <a:pathLst>
                <a:path h="3305143" w="433044">
                  <a:moveTo>
                    <a:pt x="0" y="0"/>
                  </a:moveTo>
                  <a:lnTo>
                    <a:pt x="433044" y="0"/>
                  </a:lnTo>
                  <a:lnTo>
                    <a:pt x="433044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33044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2921">
            <a:off x="-2022039" y="-1277179"/>
            <a:ext cx="3397885" cy="8773181"/>
            <a:chOff x="0" y="0"/>
            <a:chExt cx="894916" cy="23106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4916" cy="2310632"/>
            </a:xfrm>
            <a:custGeom>
              <a:avLst/>
              <a:gdLst/>
              <a:ahLst/>
              <a:cxnLst/>
              <a:rect r="r" b="b" t="t" l="l"/>
              <a:pathLst>
                <a:path h="2310632" w="894916">
                  <a:moveTo>
                    <a:pt x="0" y="0"/>
                  </a:moveTo>
                  <a:lnTo>
                    <a:pt x="894916" y="0"/>
                  </a:lnTo>
                  <a:lnTo>
                    <a:pt x="894916" y="2310632"/>
                  </a:lnTo>
                  <a:lnTo>
                    <a:pt x="0" y="2310632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4916" cy="2358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409714" y="1218806"/>
            <a:ext cx="13468572" cy="111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7084" spc="-389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PLANEJAMENTO E ESTRATÉGIA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46608" y="3535301"/>
            <a:ext cx="4413006" cy="2540239"/>
            <a:chOff x="0" y="0"/>
            <a:chExt cx="5884008" cy="3386985"/>
          </a:xfrm>
        </p:grpSpPr>
        <p:sp>
          <p:nvSpPr>
            <p:cNvPr name="Freeform 16" id="16"/>
            <p:cNvSpPr/>
            <p:nvPr/>
          </p:nvSpPr>
          <p:spPr>
            <a:xfrm flipH="true" flipV="false" rot="0">
              <a:off x="0" y="0"/>
              <a:ext cx="1077674" cy="1077674"/>
            </a:xfrm>
            <a:custGeom>
              <a:avLst/>
              <a:gdLst/>
              <a:ahLst/>
              <a:cxnLst/>
              <a:rect r="r" b="b" t="t" l="l"/>
              <a:pathLst>
                <a:path h="1077674" w="1077674">
                  <a:moveTo>
                    <a:pt x="1077674" y="0"/>
                  </a:moveTo>
                  <a:lnTo>
                    <a:pt x="0" y="0"/>
                  </a:lnTo>
                  <a:lnTo>
                    <a:pt x="0" y="1077674"/>
                  </a:lnTo>
                  <a:lnTo>
                    <a:pt x="1077674" y="1077674"/>
                  </a:lnTo>
                  <a:lnTo>
                    <a:pt x="107767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280948" y="154662"/>
              <a:ext cx="3654009" cy="1565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Estratégia </a:t>
              </a:r>
            </a:p>
            <a:p>
              <a:pPr algn="ctr">
                <a:lnSpc>
                  <a:spcPts val="4679"/>
                </a:lnSpc>
              </a:pPr>
              <a:r>
                <a:rPr lang="en-US" b="true" sz="3899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adotada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603818"/>
              <a:ext cx="5884008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Mé</a:t>
              </a: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todo ágil - Scrum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75833" y="3535301"/>
            <a:ext cx="6012167" cy="5106513"/>
            <a:chOff x="0" y="0"/>
            <a:chExt cx="8016223" cy="6808683"/>
          </a:xfrm>
        </p:grpSpPr>
        <p:sp>
          <p:nvSpPr>
            <p:cNvPr name="Freeform 20" id="20"/>
            <p:cNvSpPr/>
            <p:nvPr/>
          </p:nvSpPr>
          <p:spPr>
            <a:xfrm flipH="true" flipV="false" rot="0">
              <a:off x="0" y="0"/>
              <a:ext cx="1077674" cy="1077674"/>
            </a:xfrm>
            <a:custGeom>
              <a:avLst/>
              <a:gdLst/>
              <a:ahLst/>
              <a:cxnLst/>
              <a:rect r="r" b="b" t="t" l="l"/>
              <a:pathLst>
                <a:path h="1077674" w="1077674">
                  <a:moveTo>
                    <a:pt x="1077674" y="0"/>
                  </a:moveTo>
                  <a:lnTo>
                    <a:pt x="0" y="0"/>
                  </a:lnTo>
                  <a:lnTo>
                    <a:pt x="0" y="1077674"/>
                  </a:lnTo>
                  <a:lnTo>
                    <a:pt x="1077674" y="1077674"/>
                  </a:lnTo>
                  <a:lnTo>
                    <a:pt x="107767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280874" y="154662"/>
              <a:ext cx="6735349" cy="77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Prazos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723517"/>
              <a:ext cx="7262881" cy="4085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Data d</a:t>
              </a: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 início do projeto: 23/04</a:t>
              </a:r>
            </a:p>
            <a:p>
              <a:pPr algn="l">
                <a:lnSpc>
                  <a:spcPts val="4900"/>
                </a:lnSpc>
              </a:pPr>
            </a:p>
            <a:p>
              <a:pPr algn="l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Data prevista de encerramento: 08/06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65461" y="3534616"/>
            <a:ext cx="7004524" cy="5015130"/>
            <a:chOff x="0" y="0"/>
            <a:chExt cx="9339366" cy="6686840"/>
          </a:xfrm>
        </p:grpSpPr>
        <p:sp>
          <p:nvSpPr>
            <p:cNvPr name="Freeform 24" id="24"/>
            <p:cNvSpPr/>
            <p:nvPr/>
          </p:nvSpPr>
          <p:spPr>
            <a:xfrm flipH="true" flipV="false" rot="0">
              <a:off x="299953" y="0"/>
              <a:ext cx="1077674" cy="1077674"/>
            </a:xfrm>
            <a:custGeom>
              <a:avLst/>
              <a:gdLst/>
              <a:ahLst/>
              <a:cxnLst/>
              <a:rect r="r" b="b" t="t" l="l"/>
              <a:pathLst>
                <a:path h="1077674" w="1077674">
                  <a:moveTo>
                    <a:pt x="1077674" y="0"/>
                  </a:moveTo>
                  <a:lnTo>
                    <a:pt x="0" y="0"/>
                  </a:lnTo>
                  <a:lnTo>
                    <a:pt x="0" y="1077674"/>
                  </a:lnTo>
                  <a:lnTo>
                    <a:pt x="1077674" y="1077674"/>
                  </a:lnTo>
                  <a:lnTo>
                    <a:pt x="107767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580827" y="154662"/>
              <a:ext cx="6735349" cy="77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Cronograma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601674"/>
              <a:ext cx="9339366" cy="4085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Número de sprints compõ</a:t>
              </a: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em o projeto: 4 Sprints</a:t>
              </a:r>
            </a:p>
            <a:p>
              <a:pPr algn="l">
                <a:lnSpc>
                  <a:spcPts val="4900"/>
                </a:lnSpc>
              </a:pPr>
            </a:p>
            <a:p>
              <a:pPr algn="l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 duração estimada de cada sprint: 1 Semana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277865" y="990600"/>
            <a:ext cx="373226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SPRINT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69604" y="3525302"/>
            <a:ext cx="14313247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Criar os Cenários 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 Casos de Testes das seguintes funcionalidades: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Accounts Overview;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Open New Account;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Transfer Funds;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Request Loan;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Adicionar os cenários e casos de testes no TestRail.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312945" y="2787231"/>
            <a:ext cx="13662110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Realizar Teste de Interface em </a:t>
            </a:r>
            <a:r>
              <a:rPr lang="en-US" sz="3500" b="true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Accounts Overview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Testar carregam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ento das dashboards: saldo, lista de contas, histórico;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responsividade: desktop, mobile;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interface visual: alinhamento, espaçamento, cores, fontes, ícones.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Realizar Teste de I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nterface em </a:t>
            </a:r>
            <a:r>
              <a:rPr lang="en-US" b="true" sz="3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Open New Account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formulário: campos obrigatórios;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mensagens: sucesso, erro, campos inválidos.</a:t>
            </a:r>
          </a:p>
          <a:p>
            <a:pPr algn="l">
              <a:lnSpc>
                <a:spcPts val="490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6033567" y="690044"/>
            <a:ext cx="6220867" cy="1404620"/>
            <a:chOff x="0" y="0"/>
            <a:chExt cx="8294489" cy="187282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590894" y="-38100"/>
              <a:ext cx="5112701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SPRINT 2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16143"/>
              <a:ext cx="8294489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Accounts Overview &amp; Open New Account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36219" y="2417265"/>
            <a:ext cx="14615562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Realizar Teste de Interface em </a:t>
            </a:r>
            <a:r>
              <a:rPr lang="en-US" b="true" sz="3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Trasnfer Founds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fluxo de transferência: conta origem, conta destino, valor, confirmação;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comportamento visual: mensagens, feedback visual;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erros : saldo insuficiente, valor negativo, campos vazios;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Teste de responsividade.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Realizar Teste de Interface em </a:t>
            </a:r>
            <a:r>
              <a:rPr lang="en-US" b="true" sz="3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Request Loan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formulário de empréstimo: valores, entrada, envio;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UX/UI: clareza das informações, organização visual;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Validar erros: valor negativo, campos vazios.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780088" y="570357"/>
            <a:ext cx="4727823" cy="1524307"/>
            <a:chOff x="0" y="0"/>
            <a:chExt cx="6303764" cy="203240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595531" y="-38100"/>
              <a:ext cx="5112701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SPRINT 2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475726"/>
              <a:ext cx="6303764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Transfer Funds &amp; Request Loan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226737" y="532257"/>
            <a:ext cx="383452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SPRINT 3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47283" y="3563938"/>
            <a:ext cx="9993435" cy="308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Realizar teste de API;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Exportação dos XML de cada funcionalidade do TestRail;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Adicionar Modelos de evidência para cada caso de teste dentro do TestRail.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226737" y="532257"/>
            <a:ext cx="383452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SPRINT 4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671" y="3873500"/>
            <a:ext cx="15140657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Org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anizar toda a estrutura do projeto e inserir em um Slide de apresetação;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Toda a estrutura deve estar contida em um único ambiente (Notion).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5087701" y="5483684"/>
            <a:ext cx="1951787" cy="7607891"/>
            <a:chOff x="0" y="0"/>
            <a:chExt cx="514051" cy="2003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051" cy="2003724"/>
            </a:xfrm>
            <a:custGeom>
              <a:avLst/>
              <a:gdLst/>
              <a:ahLst/>
              <a:cxnLst/>
              <a:rect r="r" b="b" t="t" l="l"/>
              <a:pathLst>
                <a:path h="2003724" w="514051">
                  <a:moveTo>
                    <a:pt x="0" y="0"/>
                  </a:moveTo>
                  <a:lnTo>
                    <a:pt x="514051" y="0"/>
                  </a:lnTo>
                  <a:lnTo>
                    <a:pt x="514051" y="2003724"/>
                  </a:lnTo>
                  <a:lnTo>
                    <a:pt x="0" y="2003724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14051" cy="2051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7471630" y="-3286946"/>
            <a:ext cx="1644215" cy="12549216"/>
            <a:chOff x="0" y="0"/>
            <a:chExt cx="433044" cy="33051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3044" cy="3305143"/>
            </a:xfrm>
            <a:custGeom>
              <a:avLst/>
              <a:gdLst/>
              <a:ahLst/>
              <a:cxnLst/>
              <a:rect r="r" b="b" t="t" l="l"/>
              <a:pathLst>
                <a:path h="3305143" w="433044">
                  <a:moveTo>
                    <a:pt x="0" y="0"/>
                  </a:moveTo>
                  <a:lnTo>
                    <a:pt x="433044" y="0"/>
                  </a:lnTo>
                  <a:lnTo>
                    <a:pt x="433044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3044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226370" y="-2365143"/>
            <a:ext cx="1846308" cy="5946350"/>
            <a:chOff x="0" y="0"/>
            <a:chExt cx="486270" cy="15661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6270" cy="1566117"/>
            </a:xfrm>
            <a:custGeom>
              <a:avLst/>
              <a:gdLst/>
              <a:ahLst/>
              <a:cxnLst/>
              <a:rect r="r" b="b" t="t" l="l"/>
              <a:pathLst>
                <a:path h="1566117" w="486270">
                  <a:moveTo>
                    <a:pt x="0" y="0"/>
                  </a:moveTo>
                  <a:lnTo>
                    <a:pt x="486270" y="0"/>
                  </a:lnTo>
                  <a:lnTo>
                    <a:pt x="486270" y="1566117"/>
                  </a:lnTo>
                  <a:lnTo>
                    <a:pt x="0" y="1566117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6270" cy="1613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475418" y="938151"/>
            <a:ext cx="9337164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38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RIS</a:t>
            </a:r>
            <a:r>
              <a:rPr lang="en-US" sz="6999" spc="-38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COS E AMBIENTES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7205" y="3235297"/>
            <a:ext cx="9000840" cy="5946124"/>
            <a:chOff x="0" y="0"/>
            <a:chExt cx="12001121" cy="7928165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537391" y="0"/>
              <a:ext cx="1077674" cy="1077674"/>
            </a:xfrm>
            <a:custGeom>
              <a:avLst/>
              <a:gdLst/>
              <a:ahLst/>
              <a:cxnLst/>
              <a:rect r="r" b="b" t="t" l="l"/>
              <a:pathLst>
                <a:path h="1077674" w="1077674">
                  <a:moveTo>
                    <a:pt x="1077674" y="0"/>
                  </a:moveTo>
                  <a:lnTo>
                    <a:pt x="0" y="0"/>
                  </a:lnTo>
                  <a:lnTo>
                    <a:pt x="0" y="1077674"/>
                  </a:lnTo>
                  <a:lnTo>
                    <a:pt x="1077674" y="1077674"/>
                  </a:lnTo>
                  <a:lnTo>
                    <a:pt x="107767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016335" y="154662"/>
              <a:ext cx="5755500" cy="77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Riscos previstos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66498"/>
              <a:ext cx="12001121" cy="6561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O ambi</a:t>
              </a: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ente de testes pode apresentar indisponibilidade ou comportamento inconsistente em determinados períodos, comprometendo a execução das sprints;</a:t>
              </a:r>
            </a:p>
            <a:p>
              <a:pPr algn="l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Problemas na instalação ou configuração das ferramentas podem atrasar o início dos testes de API.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98759" y="3235297"/>
            <a:ext cx="6027646" cy="4253115"/>
            <a:chOff x="0" y="0"/>
            <a:chExt cx="8036861" cy="56708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96278" y="3751192"/>
              <a:ext cx="1251843" cy="1251843"/>
            </a:xfrm>
            <a:custGeom>
              <a:avLst/>
              <a:gdLst/>
              <a:ahLst/>
              <a:cxnLst/>
              <a:rect r="r" b="b" t="t" l="l"/>
              <a:pathLst>
                <a:path h="1251843" w="1251843">
                  <a:moveTo>
                    <a:pt x="0" y="0"/>
                  </a:moveTo>
                  <a:lnTo>
                    <a:pt x="1251843" y="0"/>
                  </a:lnTo>
                  <a:lnTo>
                    <a:pt x="1251843" y="1251843"/>
                  </a:lnTo>
                  <a:lnTo>
                    <a:pt x="0" y="1251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425291"/>
              <a:ext cx="1657611" cy="1657611"/>
            </a:xfrm>
            <a:custGeom>
              <a:avLst/>
              <a:gdLst/>
              <a:ahLst/>
              <a:cxnLst/>
              <a:rect r="r" b="b" t="t" l="l"/>
              <a:pathLst>
                <a:path h="1657611" w="1657611">
                  <a:moveTo>
                    <a:pt x="0" y="0"/>
                  </a:moveTo>
                  <a:lnTo>
                    <a:pt x="1657611" y="0"/>
                  </a:lnTo>
                  <a:lnTo>
                    <a:pt x="1657611" y="1657611"/>
                  </a:lnTo>
                  <a:lnTo>
                    <a:pt x="0" y="1657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true" flipV="false" rot="0">
              <a:off x="0" y="0"/>
              <a:ext cx="1077674" cy="1077674"/>
            </a:xfrm>
            <a:custGeom>
              <a:avLst/>
              <a:gdLst/>
              <a:ahLst/>
              <a:cxnLst/>
              <a:rect r="r" b="b" t="t" l="l"/>
              <a:pathLst>
                <a:path h="1077674" w="1077674">
                  <a:moveTo>
                    <a:pt x="1077674" y="0"/>
                  </a:moveTo>
                  <a:lnTo>
                    <a:pt x="0" y="0"/>
                  </a:lnTo>
                  <a:lnTo>
                    <a:pt x="0" y="1077674"/>
                  </a:lnTo>
                  <a:lnTo>
                    <a:pt x="1077674" y="1077674"/>
                  </a:lnTo>
                  <a:lnTo>
                    <a:pt x="1077674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408769" y="154662"/>
              <a:ext cx="6628092" cy="777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Ambientes de teste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796962" y="4062154"/>
              <a:ext cx="5425480" cy="160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Chrome (D</a:t>
              </a: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esktop Windows)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657611" y="1939137"/>
              <a:ext cx="4838303" cy="160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Edg</a:t>
              </a: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e (Desktop Windows)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38580" y="1028700"/>
            <a:ext cx="10010840" cy="1948321"/>
            <a:chOff x="0" y="0"/>
            <a:chExt cx="13347787" cy="259776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3347787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EXECUÇÃO DOS TESTES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346257" y="1457023"/>
              <a:ext cx="6655273" cy="1140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Técnica e tipos de teste utilizados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648163" y="3298825"/>
            <a:ext cx="6991674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Cai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xa preta (testes manuais);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Testes de 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interface (UI);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Testes de API.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867" y="5466183"/>
            <a:ext cx="15890266" cy="439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7437A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Justificativa</a:t>
            </a:r>
            <a:r>
              <a:rPr lang="en-US" sz="3500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: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Como não tivemos acesso direto ao código-fonte do sistema, os testes foram conduzidos utilizando técnicas de caixa preta. A validação foi realizada por meio da interface da aplicação e das APIs disponibilizadas, verificando o comportamento do sistema a partir das entradas e saídas observadas.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399461" y="4492625"/>
            <a:ext cx="548907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Teste de integração e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de sistema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38580" y="1028700"/>
            <a:ext cx="10010840" cy="1510225"/>
            <a:chOff x="0" y="0"/>
            <a:chExt cx="13347787" cy="20136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13347787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EXECUÇÃO DOS TESTES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919759" y="1457023"/>
              <a:ext cx="5508268" cy="556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Níveis de teste abrangidos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44038" y="6488530"/>
            <a:ext cx="2783681" cy="1238250"/>
            <a:chOff x="0" y="0"/>
            <a:chExt cx="3711575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651000"/>
                  </a:lnTo>
                  <a:lnTo>
                    <a:pt x="0" y="165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981200" y="395817"/>
              <a:ext cx="173037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Trello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38580" y="4134318"/>
            <a:ext cx="3347404" cy="1280109"/>
            <a:chOff x="0" y="0"/>
            <a:chExt cx="4463206" cy="17068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04359" cy="1706812"/>
            </a:xfrm>
            <a:custGeom>
              <a:avLst/>
              <a:gdLst/>
              <a:ahLst/>
              <a:cxnLst/>
              <a:rect r="r" b="b" t="t" l="l"/>
              <a:pathLst>
                <a:path h="1706812" w="2604359">
                  <a:moveTo>
                    <a:pt x="0" y="0"/>
                  </a:moveTo>
                  <a:lnTo>
                    <a:pt x="2604359" y="0"/>
                  </a:lnTo>
                  <a:lnTo>
                    <a:pt x="2604359" y="1706812"/>
                  </a:lnTo>
                  <a:lnTo>
                    <a:pt x="0" y="1706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351831" y="256279"/>
              <a:ext cx="211137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Noti</a:t>
              </a: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77578" y="5926847"/>
            <a:ext cx="3831431" cy="1978170"/>
            <a:chOff x="0" y="0"/>
            <a:chExt cx="5108575" cy="2637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37560" cy="2637560"/>
            </a:xfrm>
            <a:custGeom>
              <a:avLst/>
              <a:gdLst/>
              <a:ahLst/>
              <a:cxnLst/>
              <a:rect r="r" b="b" t="t" l="l"/>
              <a:pathLst>
                <a:path h="2637560" w="2637560">
                  <a:moveTo>
                    <a:pt x="0" y="0"/>
                  </a:moveTo>
                  <a:lnTo>
                    <a:pt x="2637560" y="0"/>
                  </a:lnTo>
                  <a:lnTo>
                    <a:pt x="2637560" y="2637560"/>
                  </a:lnTo>
                  <a:lnTo>
                    <a:pt x="0" y="2637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311400" y="895989"/>
              <a:ext cx="279717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Insomnia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319073" y="3885031"/>
            <a:ext cx="3876564" cy="1778683"/>
            <a:chOff x="0" y="0"/>
            <a:chExt cx="5168752" cy="23715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71577" cy="2371577"/>
            </a:xfrm>
            <a:custGeom>
              <a:avLst/>
              <a:gdLst/>
              <a:ahLst/>
              <a:cxnLst/>
              <a:rect r="r" b="b" t="t" l="l"/>
              <a:pathLst>
                <a:path h="2371577" w="2371577">
                  <a:moveTo>
                    <a:pt x="0" y="0"/>
                  </a:moveTo>
                  <a:lnTo>
                    <a:pt x="2371577" y="0"/>
                  </a:lnTo>
                  <a:lnTo>
                    <a:pt x="2371577" y="2371577"/>
                  </a:lnTo>
                  <a:lnTo>
                    <a:pt x="0" y="2371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2371577" y="762997"/>
              <a:ext cx="279717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TestRail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38580" y="1028700"/>
            <a:ext cx="10010840" cy="1510225"/>
            <a:chOff x="0" y="0"/>
            <a:chExt cx="13347787" cy="201363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38100"/>
              <a:ext cx="13347787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EXECUÇÃO DOS TESTES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377476" y="1457023"/>
              <a:ext cx="4592836" cy="556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Ferramentas utilizadas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47177" y="3233006"/>
            <a:ext cx="5593646" cy="6356958"/>
          </a:xfrm>
          <a:custGeom>
            <a:avLst/>
            <a:gdLst/>
            <a:ahLst/>
            <a:cxnLst/>
            <a:rect r="r" b="b" t="t" l="l"/>
            <a:pathLst>
              <a:path h="6356958" w="5593646">
                <a:moveTo>
                  <a:pt x="0" y="0"/>
                </a:moveTo>
                <a:lnTo>
                  <a:pt x="5593646" y="0"/>
                </a:lnTo>
                <a:lnTo>
                  <a:pt x="55936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574944" y="1028700"/>
            <a:ext cx="7138111" cy="1510225"/>
            <a:chOff x="0" y="0"/>
            <a:chExt cx="9517481" cy="20136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9517481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CASOS DE TESTE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816813" y="1457023"/>
              <a:ext cx="3883855" cy="556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Método de escrita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08369" y="5262027"/>
            <a:ext cx="2182892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Gh</a:t>
            </a:r>
            <a:r>
              <a:rPr lang="en-US" sz="350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erkhin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822203" y="3746369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5574944" y="1028700"/>
            <a:ext cx="7138111" cy="1510225"/>
            <a:chOff x="0" y="0"/>
            <a:chExt cx="9517481" cy="20136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9517481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CASOS DE TESTE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669738" y="1457023"/>
              <a:ext cx="8178006" cy="556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Quantidade de casos por funcionalidade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  <p:transition spd="slow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aphicFrame>
        <p:nvGraphicFramePr>
          <p:cNvPr name="Object 11" id="11"/>
          <p:cNvGraphicFramePr/>
          <p:nvPr/>
        </p:nvGraphicFramePr>
        <p:xfrm>
          <a:off x="1702015" y="4233250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574944" y="1028700"/>
            <a:ext cx="7138111" cy="1510225"/>
            <a:chOff x="0" y="0"/>
            <a:chExt cx="9517481" cy="20136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9517481" cy="14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CASOS DE TESTE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714239" y="1457023"/>
              <a:ext cx="4089003" cy="556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Cobertura de testes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403225" y="4590415"/>
            <a:ext cx="5481550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RESULTADOS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633633"/>
            <a:ext cx="16230600" cy="7019734"/>
          </a:xfrm>
          <a:custGeom>
            <a:avLst/>
            <a:gdLst/>
            <a:ahLst/>
            <a:cxnLst/>
            <a:rect r="r" b="b" t="t" l="l"/>
            <a:pathLst>
              <a:path h="7019734" w="16230600">
                <a:moveTo>
                  <a:pt x="0" y="0"/>
                </a:moveTo>
                <a:lnTo>
                  <a:pt x="16230600" y="0"/>
                </a:lnTo>
                <a:lnTo>
                  <a:pt x="16230600" y="7019734"/>
                </a:lnTo>
                <a:lnTo>
                  <a:pt x="0" y="701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1364" y="9210675"/>
            <a:ext cx="38452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07h00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96900"/>
            <a:ext cx="279216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ect Overview</a:t>
            </a:r>
          </a:p>
        </p:txBody>
      </p:sp>
    </p:spTree>
  </p:cSld>
  <p:clrMapOvr>
    <a:masterClrMapping/>
  </p:clrMapOvr>
  <p:transition spd="slow">
    <p:cover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042" y="3436760"/>
            <a:ext cx="16230600" cy="3611308"/>
          </a:xfrm>
          <a:custGeom>
            <a:avLst/>
            <a:gdLst/>
            <a:ahLst/>
            <a:cxnLst/>
            <a:rect r="r" b="b" t="t" l="l"/>
            <a:pathLst>
              <a:path h="3611308" w="16230600">
                <a:moveTo>
                  <a:pt x="0" y="0"/>
                </a:moveTo>
                <a:lnTo>
                  <a:pt x="16230600" y="0"/>
                </a:lnTo>
                <a:lnTo>
                  <a:pt x="16230600" y="3611308"/>
                </a:lnTo>
                <a:lnTo>
                  <a:pt x="0" y="361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69686" y="8178133"/>
            <a:ext cx="93486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03/06 | 10h31 | Tests &amp; Results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0042" y="1327865"/>
            <a:ext cx="31518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Acc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ounts Overview</a:t>
            </a:r>
          </a:p>
        </p:txBody>
      </p:sp>
    </p:spTree>
  </p:cSld>
  <p:clrMapOvr>
    <a:masterClrMapping/>
  </p:clrMapOvr>
  <p:transition spd="slow">
    <p:cover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10296"/>
            <a:ext cx="16230600" cy="3266408"/>
          </a:xfrm>
          <a:custGeom>
            <a:avLst/>
            <a:gdLst/>
            <a:ahLst/>
            <a:cxnLst/>
            <a:rect r="r" b="b" t="t" l="l"/>
            <a:pathLst>
              <a:path h="3266408" w="16230600">
                <a:moveTo>
                  <a:pt x="0" y="0"/>
                </a:moveTo>
                <a:lnTo>
                  <a:pt x="16230600" y="0"/>
                </a:lnTo>
                <a:lnTo>
                  <a:pt x="16230600" y="3266408"/>
                </a:lnTo>
                <a:lnTo>
                  <a:pt x="0" y="326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94198" y="8139951"/>
            <a:ext cx="829960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03/06 | 10h34 | Activity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0042" y="1327865"/>
            <a:ext cx="31518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Acc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ounts Overview</a:t>
            </a:r>
          </a:p>
        </p:txBody>
      </p:sp>
    </p:spTree>
  </p:cSld>
  <p:clrMapOvr>
    <a:masterClrMapping/>
  </p:clrMapOvr>
  <p:transition spd="slow">
    <p:cover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471327"/>
            <a:ext cx="16230600" cy="7344347"/>
          </a:xfrm>
          <a:custGeom>
            <a:avLst/>
            <a:gdLst/>
            <a:ahLst/>
            <a:cxnLst/>
            <a:rect r="r" b="b" t="t" l="l"/>
            <a:pathLst>
              <a:path h="7344347" w="16230600">
                <a:moveTo>
                  <a:pt x="0" y="0"/>
                </a:moveTo>
                <a:lnTo>
                  <a:pt x="16230600" y="0"/>
                </a:lnTo>
                <a:lnTo>
                  <a:pt x="16230600" y="7344346"/>
                </a:lnTo>
                <a:lnTo>
                  <a:pt x="0" y="7344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69234" y="9210675"/>
            <a:ext cx="8549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03/06 | 10h36 | Progress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3410"/>
            <a:ext cx="31518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Acc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ounts Overview</a:t>
            </a:r>
          </a:p>
        </p:txBody>
      </p:sp>
    </p:spTree>
  </p:cSld>
  <p:clrMapOvr>
    <a:masterClrMapping/>
  </p:clrMapOvr>
  <p:transition spd="slow">
    <p:cover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50872"/>
            <a:ext cx="16230600" cy="3185255"/>
          </a:xfrm>
          <a:custGeom>
            <a:avLst/>
            <a:gdLst/>
            <a:ahLst/>
            <a:cxnLst/>
            <a:rect r="r" b="b" t="t" l="l"/>
            <a:pathLst>
              <a:path h="3185255" w="16230600">
                <a:moveTo>
                  <a:pt x="0" y="0"/>
                </a:moveTo>
                <a:lnTo>
                  <a:pt x="16230600" y="0"/>
                </a:lnTo>
                <a:lnTo>
                  <a:pt x="16230600" y="3185256"/>
                </a:lnTo>
                <a:lnTo>
                  <a:pt x="0" y="3185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96143" y="7732555"/>
            <a:ext cx="82957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03/06 | 10h37 | Defects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0042" y="1327865"/>
            <a:ext cx="31518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Acc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ounts Overview</a:t>
            </a:r>
          </a:p>
        </p:txBody>
      </p:sp>
    </p:spTree>
  </p:cSld>
  <p:clrMapOvr>
    <a:masterClrMapping/>
  </p:clrMapOvr>
  <p:transition spd="slow">
    <p:cover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46604"/>
            <a:ext cx="16230600" cy="5193792"/>
          </a:xfrm>
          <a:custGeom>
            <a:avLst/>
            <a:gdLst/>
            <a:ahLst/>
            <a:cxnLst/>
            <a:rect r="r" b="b" t="t" l="l"/>
            <a:pathLst>
              <a:path h="5193792" w="16230600">
                <a:moveTo>
                  <a:pt x="0" y="0"/>
                </a:moveTo>
                <a:lnTo>
                  <a:pt x="16230600" y="0"/>
                </a:lnTo>
                <a:lnTo>
                  <a:pt x="16230600" y="5193792"/>
                </a:lnTo>
                <a:lnTo>
                  <a:pt x="0" y="519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4963" y="8689417"/>
            <a:ext cx="929807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12h49 | Tests &amp; Results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27865"/>
            <a:ext cx="253832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nsfer Funds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59631"/>
            <a:ext cx="16230600" cy="4767739"/>
          </a:xfrm>
          <a:custGeom>
            <a:avLst/>
            <a:gdLst/>
            <a:ahLst/>
            <a:cxnLst/>
            <a:rect r="r" b="b" t="t" l="l"/>
            <a:pathLst>
              <a:path h="4767739" w="16230600">
                <a:moveTo>
                  <a:pt x="0" y="0"/>
                </a:moveTo>
                <a:lnTo>
                  <a:pt x="16230600" y="0"/>
                </a:lnTo>
                <a:lnTo>
                  <a:pt x="16230600" y="4767738"/>
                </a:lnTo>
                <a:lnTo>
                  <a:pt x="0" y="476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33590" y="8587161"/>
            <a:ext cx="8220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12h49 | Activity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27865"/>
            <a:ext cx="253832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nsfer Funds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2029" y="1285645"/>
            <a:ext cx="13763942" cy="7656193"/>
          </a:xfrm>
          <a:custGeom>
            <a:avLst/>
            <a:gdLst/>
            <a:ahLst/>
            <a:cxnLst/>
            <a:rect r="r" b="b" t="t" l="l"/>
            <a:pathLst>
              <a:path h="7656193" w="13763942">
                <a:moveTo>
                  <a:pt x="0" y="0"/>
                </a:moveTo>
                <a:lnTo>
                  <a:pt x="13763942" y="0"/>
                </a:lnTo>
                <a:lnTo>
                  <a:pt x="13763942" y="7656193"/>
                </a:lnTo>
                <a:lnTo>
                  <a:pt x="0" y="7656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4458" y="9210675"/>
            <a:ext cx="825908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12h51 | Progress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2029" y="407553"/>
            <a:ext cx="253832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nsfer Funds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05972"/>
            <a:ext cx="16230600" cy="3875056"/>
          </a:xfrm>
          <a:custGeom>
            <a:avLst/>
            <a:gdLst/>
            <a:ahLst/>
            <a:cxnLst/>
            <a:rect r="r" b="b" t="t" l="l"/>
            <a:pathLst>
              <a:path h="3875056" w="16230600">
                <a:moveTo>
                  <a:pt x="0" y="0"/>
                </a:moveTo>
                <a:lnTo>
                  <a:pt x="16230600" y="0"/>
                </a:lnTo>
                <a:lnTo>
                  <a:pt x="16230600" y="3875056"/>
                </a:lnTo>
                <a:lnTo>
                  <a:pt x="0" y="3875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99024" y="8142303"/>
            <a:ext cx="828995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12h53 | Defects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27865"/>
            <a:ext cx="253832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nsfer Funds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27702"/>
            <a:ext cx="16230600" cy="3631597"/>
          </a:xfrm>
          <a:custGeom>
            <a:avLst/>
            <a:gdLst/>
            <a:ahLst/>
            <a:cxnLst/>
            <a:rect r="r" b="b" t="t" l="l"/>
            <a:pathLst>
              <a:path h="3631597" w="16230600">
                <a:moveTo>
                  <a:pt x="0" y="0"/>
                </a:moveTo>
                <a:lnTo>
                  <a:pt x="16230600" y="0"/>
                </a:lnTo>
                <a:lnTo>
                  <a:pt x="16230600" y="3631596"/>
                </a:lnTo>
                <a:lnTo>
                  <a:pt x="0" y="3631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29287" y="8101401"/>
            <a:ext cx="94294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07h07 | Tests &amp; Results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27865"/>
            <a:ext cx="319276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Ope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 New Account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79864"/>
            <a:ext cx="16230600" cy="3327273"/>
          </a:xfrm>
          <a:custGeom>
            <a:avLst/>
            <a:gdLst/>
            <a:ahLst/>
            <a:cxnLst/>
            <a:rect r="r" b="b" t="t" l="l"/>
            <a:pathLst>
              <a:path h="3327273" w="16230600">
                <a:moveTo>
                  <a:pt x="0" y="0"/>
                </a:moveTo>
                <a:lnTo>
                  <a:pt x="16230600" y="0"/>
                </a:lnTo>
                <a:lnTo>
                  <a:pt x="16230600" y="3327272"/>
                </a:lnTo>
                <a:lnTo>
                  <a:pt x="0" y="332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68730" y="7896887"/>
            <a:ext cx="83505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07h09 | Activity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27865"/>
            <a:ext cx="319276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Ope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 New Account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11903"/>
            <a:ext cx="16230600" cy="7263193"/>
          </a:xfrm>
          <a:custGeom>
            <a:avLst/>
            <a:gdLst/>
            <a:ahLst/>
            <a:cxnLst/>
            <a:rect r="r" b="b" t="t" l="l"/>
            <a:pathLst>
              <a:path h="7263193" w="16230600">
                <a:moveTo>
                  <a:pt x="0" y="0"/>
                </a:moveTo>
                <a:lnTo>
                  <a:pt x="16230600" y="0"/>
                </a:lnTo>
                <a:lnTo>
                  <a:pt x="16230600" y="7263194"/>
                </a:lnTo>
                <a:lnTo>
                  <a:pt x="0" y="7263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58504" y="9210675"/>
            <a:ext cx="83709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07h11 | Progress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96900"/>
            <a:ext cx="319276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Ope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 New Account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61017"/>
            <a:ext cx="16230600" cy="3164967"/>
          </a:xfrm>
          <a:custGeom>
            <a:avLst/>
            <a:gdLst/>
            <a:ahLst/>
            <a:cxnLst/>
            <a:rect r="r" b="b" t="t" l="l"/>
            <a:pathLst>
              <a:path h="3164967" w="16230600">
                <a:moveTo>
                  <a:pt x="0" y="0"/>
                </a:moveTo>
                <a:lnTo>
                  <a:pt x="16230600" y="0"/>
                </a:lnTo>
                <a:lnTo>
                  <a:pt x="16230600" y="3164967"/>
                </a:lnTo>
                <a:lnTo>
                  <a:pt x="0" y="3164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57376" y="8001304"/>
            <a:ext cx="837324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07h13 | Defects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60371"/>
            <a:ext cx="319276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Ope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 New Account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17558"/>
            <a:ext cx="16230600" cy="3651885"/>
          </a:xfrm>
          <a:custGeom>
            <a:avLst/>
            <a:gdLst/>
            <a:ahLst/>
            <a:cxnLst/>
            <a:rect r="r" b="b" t="t" l="l"/>
            <a:pathLst>
              <a:path h="3651885" w="16230600">
                <a:moveTo>
                  <a:pt x="0" y="0"/>
                </a:moveTo>
                <a:lnTo>
                  <a:pt x="16230600" y="0"/>
                </a:lnTo>
                <a:lnTo>
                  <a:pt x="16230600" y="3651884"/>
                </a:lnTo>
                <a:lnTo>
                  <a:pt x="0" y="365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8852" y="8205818"/>
            <a:ext cx="92902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07h15 | Tests &amp; Results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60371"/>
            <a:ext cx="23248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Requ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est Loan</a:t>
            </a:r>
          </a:p>
        </p:txBody>
      </p:sp>
    </p:spTree>
  </p:cSld>
  <p:clrMapOvr>
    <a:masterClrMapping/>
  </p:clrMapOvr>
  <p:transition spd="slow">
    <p:cover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20440"/>
            <a:ext cx="16230600" cy="3246120"/>
          </a:xfrm>
          <a:custGeom>
            <a:avLst/>
            <a:gdLst/>
            <a:ahLst/>
            <a:cxnLst/>
            <a:rect r="r" b="b" t="t" l="l"/>
            <a:pathLst>
              <a:path h="3246120" w="16230600">
                <a:moveTo>
                  <a:pt x="0" y="0"/>
                </a:moveTo>
                <a:lnTo>
                  <a:pt x="16230600" y="0"/>
                </a:lnTo>
                <a:lnTo>
                  <a:pt x="16230600" y="3246120"/>
                </a:lnTo>
                <a:lnTo>
                  <a:pt x="0" y="3246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34718" y="8267172"/>
            <a:ext cx="821856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07h16 | Activity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60371"/>
            <a:ext cx="23248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Requ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est Loan</a:t>
            </a:r>
          </a:p>
        </p:txBody>
      </p:sp>
    </p:spTree>
  </p:cSld>
  <p:clrMapOvr>
    <a:masterClrMapping/>
  </p:clrMapOvr>
  <p:transition spd="slow">
    <p:cover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22047"/>
            <a:ext cx="16230600" cy="7242905"/>
          </a:xfrm>
          <a:custGeom>
            <a:avLst/>
            <a:gdLst/>
            <a:ahLst/>
            <a:cxnLst/>
            <a:rect r="r" b="b" t="t" l="l"/>
            <a:pathLst>
              <a:path h="7242905" w="16230600">
                <a:moveTo>
                  <a:pt x="0" y="0"/>
                </a:moveTo>
                <a:lnTo>
                  <a:pt x="16230600" y="0"/>
                </a:lnTo>
                <a:lnTo>
                  <a:pt x="16230600" y="7242906"/>
                </a:lnTo>
                <a:lnTo>
                  <a:pt x="0" y="7242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20795" y="9210675"/>
            <a:ext cx="844641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07h18 | Progress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96900"/>
            <a:ext cx="23248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Requ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est Loan</a:t>
            </a:r>
          </a:p>
        </p:txBody>
      </p:sp>
    </p:spTree>
  </p:cSld>
  <p:clrMapOvr>
    <a:masterClrMapping/>
  </p:clrMapOvr>
  <p:transition spd="slow">
    <p:cover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77092"/>
            <a:ext cx="16230600" cy="6532816"/>
          </a:xfrm>
          <a:custGeom>
            <a:avLst/>
            <a:gdLst/>
            <a:ahLst/>
            <a:cxnLst/>
            <a:rect r="r" b="b" t="t" l="l"/>
            <a:pathLst>
              <a:path h="6532816" w="16230600">
                <a:moveTo>
                  <a:pt x="0" y="0"/>
                </a:moveTo>
                <a:lnTo>
                  <a:pt x="16230600" y="0"/>
                </a:lnTo>
                <a:lnTo>
                  <a:pt x="16230600" y="6532816"/>
                </a:lnTo>
                <a:lnTo>
                  <a:pt x="0" y="6532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07618" y="9210675"/>
            <a:ext cx="82727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Detalhes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05/06 | 07h19 | Defects (Test Runs &amp; Results)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96900"/>
            <a:ext cx="23248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Requ</a:t>
            </a:r>
            <a:r>
              <a:rPr lang="en-US" b="true" sz="25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est Loan</a:t>
            </a:r>
          </a:p>
        </p:txBody>
      </p:sp>
    </p:spTree>
  </p:cSld>
  <p:clrMapOvr>
    <a:masterClrMapping/>
  </p:clrMapOvr>
  <p:transition spd="slow">
    <p:cover dir="l"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50937" y="6881611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28165" y="990600"/>
            <a:ext cx="1065707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MELHORIAS FUNCIONAIS IDENTIFICADAS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83904" y="2088130"/>
            <a:ext cx="2699011" cy="68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3"/>
              </a:lnSpc>
              <a:spcBef>
                <a:spcPct val="0"/>
              </a:spcBef>
            </a:pPr>
            <a:r>
              <a:rPr lang="en-US" sz="4045" i="true">
                <a:solidFill>
                  <a:srgbClr val="07437A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ParaBank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525385">
            <a:off x="-2914480" y="-1586551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525385">
            <a:off x="14529858" y="4911103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525385">
            <a:off x="9018930" y="-3211567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783563" y="2858770"/>
            <a:ext cx="12366909" cy="559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  <a:spcBef>
                <a:spcPct val="0"/>
              </a:spcBef>
            </a:pP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Impedir abertura de uma segunda conta Checking (CT05)</a:t>
            </a: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Impedir abertura de conta com saldo insuficiente (CT08)</a:t>
            </a: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Impedir abertura de uma terceira conta Savings (CT11)</a:t>
            </a: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Corrigir registro da data das transações para o dia atual</a:t>
            </a: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Ajustar filtro por período para exibir apenas transações do intervalo selecionado</a:t>
            </a: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Corrigir exibição de valores negativos na tabela de contas</a:t>
            </a: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Bloquear transferências acima do saldo disponível</a:t>
            </a:r>
          </a:p>
          <a:p>
            <a:pPr algn="l">
              <a:lnSpc>
                <a:spcPts val="4474"/>
              </a:lnSpc>
              <a:spcBef>
                <a:spcPct val="0"/>
              </a:spcBef>
            </a:pPr>
            <a:r>
              <a:rPr lang="en-US" sz="3195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Adicionar acesso rápido para Account Activity</a:t>
            </a:r>
          </a:p>
        </p:txBody>
      </p:sp>
    </p:spTree>
  </p:cSld>
  <p:clrMapOvr>
    <a:masterClrMapping/>
  </p:clrMapOvr>
  <p:transition spd="slow">
    <p:cover dir="l"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50937" y="6881611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28165" y="990600"/>
            <a:ext cx="10657075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MELHORIAS DE UX/UI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04764" y="1877014"/>
            <a:ext cx="2699011" cy="68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3"/>
              </a:lnSpc>
              <a:spcBef>
                <a:spcPct val="0"/>
              </a:spcBef>
            </a:pPr>
            <a:r>
              <a:rPr lang="en-US" sz="4045" i="true">
                <a:solidFill>
                  <a:srgbClr val="07437A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ParaBank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525385">
            <a:off x="-2914480" y="-1586551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525385">
            <a:off x="14529858" y="4911103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525385">
            <a:off x="9018930" y="-3211567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78060" y="2199141"/>
            <a:ext cx="15557285" cy="691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Modernizar o layout visual do sistema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Melhorar contraste, tipografia e legibilidade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Destacar campos de login e botões de ação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Tornar a aplicação responsiva para dispositivos móveis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Reorganizar o menu de navegação para facilitar o acesso às funcionalidades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Adicionar mensagens de feedback para operações realizadas com sucesso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Exibir mensagens de erro mais claras e informativas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Criar atalhos rápidos para funcionalidades frequentemente utilizadas</a:t>
            </a:r>
          </a:p>
          <a:p>
            <a:pPr algn="l">
              <a:lnSpc>
                <a:spcPts val="4248"/>
              </a:lnSpc>
            </a:pPr>
            <a:r>
              <a:rPr lang="en-US" sz="3034" b="true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Benefícios Esperados: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Melhor experiência do usuário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Maior facilidade de navegação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Redução de erros operacionais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Interface mais moderna e intuitiva</a:t>
            </a:r>
          </a:p>
        </p:txBody>
      </p:sp>
    </p:spTree>
  </p:cSld>
  <p:clrMapOvr>
    <a:masterClrMapping/>
  </p:clrMapOvr>
  <p:transition spd="slow">
    <p:cover dir="l"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50937" y="6881611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25398" y="990600"/>
            <a:ext cx="13683239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MELHORIAS GERAIS DO SISTEMA</a:t>
            </a:r>
          </a:p>
          <a:p>
            <a:pPr algn="l">
              <a:lnSpc>
                <a:spcPts val="68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065289" y="1896110"/>
            <a:ext cx="2699011" cy="68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3"/>
              </a:lnSpc>
              <a:spcBef>
                <a:spcPct val="0"/>
              </a:spcBef>
            </a:pPr>
            <a:r>
              <a:rPr lang="en-US" sz="4045" i="true">
                <a:solidFill>
                  <a:srgbClr val="07437A"/>
                </a:solidFill>
                <a:latin typeface="TT Firs Neue Italics"/>
                <a:ea typeface="TT Firs Neue Italics"/>
                <a:cs typeface="TT Firs Neue Italics"/>
                <a:sym typeface="TT Firs Neue Italics"/>
              </a:rPr>
              <a:t>ParaBank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525385">
            <a:off x="-2914480" y="-1586551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525385">
            <a:off x="14529858" y="4911103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525385">
            <a:off x="9018930" y="-3211567"/>
            <a:ext cx="5828960" cy="4753378"/>
          </a:xfrm>
          <a:custGeom>
            <a:avLst/>
            <a:gdLst/>
            <a:ahLst/>
            <a:cxnLst/>
            <a:rect r="r" b="b" t="t" l="l"/>
            <a:pathLst>
              <a:path h="4753378" w="5828960">
                <a:moveTo>
                  <a:pt x="0" y="0"/>
                </a:moveTo>
                <a:lnTo>
                  <a:pt x="5828960" y="0"/>
                </a:lnTo>
                <a:lnTo>
                  <a:pt x="5828960" y="4753378"/>
                </a:lnTo>
                <a:lnTo>
                  <a:pt x="0" y="4753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73382" y="2107180"/>
            <a:ext cx="15557285" cy="691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Modernizar o layout visual do sistema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Melhorar contraste, tipografia e legibilidade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Destacar campos de login e botões de ação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Tornar a aplicação responsiva para dispositivos móveis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Reorganizar o menu de navegação para facilitar o acesso às funcionalidades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Adicionar mensagens de feedback para operações realizadas com sucesso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Exibir mensagens de erro mais claras e informativas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Criar atalhos rápidos para funcionalidades frequentemente utilizadas</a:t>
            </a:r>
          </a:p>
          <a:p>
            <a:pPr algn="l">
              <a:lnSpc>
                <a:spcPts val="4248"/>
              </a:lnSpc>
            </a:pPr>
            <a:r>
              <a:rPr lang="en-US" sz="3034" b="true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Benefícios Esperados: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Melhor experiência do usuário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Maior facilidade de navegação</a:t>
            </a:r>
          </a:p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Redução de erros operacionais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✅ Interface mais moderna e intuitiva</a:t>
            </a:r>
          </a:p>
        </p:txBody>
      </p:sp>
    </p:spTree>
  </p:cSld>
  <p:clrMapOvr>
    <a:masterClrMapping/>
  </p:clrMapOvr>
  <p:transition spd="slow">
    <p:cover dir="l"/>
  </p:transition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78023" y="3967918"/>
            <a:ext cx="11731954" cy="432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Principais desafios enfr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entados: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Conciliação do projeto com atividades profissionais;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imitação de acesso a computador pessoal para execução das atividades do projeto;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Execução simultânea de projetos paralelos;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Coordenação da disponibilidade da equipe;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Gestão do tempo e cumprimento dos prazos.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890430" y="1028700"/>
            <a:ext cx="7138111" cy="2261816"/>
            <a:chOff x="0" y="0"/>
            <a:chExt cx="9517481" cy="301575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9517481" cy="2554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CONCLUSÃO E APRENDIZADOS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29158" y="2459143"/>
              <a:ext cx="6417872" cy="556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Principais desafios enfrentados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831908"/>
            <a:ext cx="14530004" cy="258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“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Esse período foi muito importante para meu aprendizado em Qualidade de Software, principalmente em testes, documentação em Gherkin, TestRail e automação. A área com a qual mais me identifiquei foi </a:t>
            </a:r>
            <a:r>
              <a:rPr lang="en-US" b="true" sz="21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Validação e Verificação (Testes)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, por envolver a análise e validação das funcionalidades do sistema.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Agradeço aos mentores por todo o conhecimento e suporte durante essa jornada”.</a:t>
            </a:r>
          </a:p>
          <a:p>
            <a:pPr algn="r">
              <a:lnSpc>
                <a:spcPts val="2940"/>
              </a:lnSpc>
              <a:spcBef>
                <a:spcPct val="0"/>
              </a:spcBef>
            </a:pPr>
          </a:p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— SANTANA DO NASCIMENTO, Caio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43677" y="1028700"/>
            <a:ext cx="8800647" cy="2261816"/>
            <a:chOff x="0" y="0"/>
            <a:chExt cx="11734196" cy="301575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529004" y="-38100"/>
              <a:ext cx="9517481" cy="2554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CONCLUSÃO E APRENDIZADOS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459143"/>
              <a:ext cx="11734196" cy="556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Lições aprendidas &amp; Área de QA com maior identificação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7250" y="7416165"/>
            <a:ext cx="14701454" cy="184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“A ár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ea que eu mais me identifiquei foi a </a:t>
            </a:r>
            <a:r>
              <a:rPr lang="en-US" b="true" sz="21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validação e verificação de testes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. É uma área bastante interessante que coloca em prática a criatividade para achar erros e testar sistemas de diversas formas possiveis. De fato essa experiência agrega muito pra um estudante que almeja ingressar na área de QA”.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— RIBEIRO DOS SANTOS, Jefferson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</a:p>
        </p:txBody>
      </p:sp>
    </p:spTree>
  </p:cSld>
  <p:clrMapOvr>
    <a:masterClrMapping/>
  </p:clrMapOvr>
  <p:transition spd="slow">
    <p:cover dir="l"/>
  </p:transition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51776" y="3545622"/>
            <a:ext cx="14530004" cy="370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“A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residência tecnológica é um espaço muito importante para nós, estudantes, para estarmos mais próximos e entendermos de fato como funciona o trabalho de um profissional atuante no mercado. Neste período, tive desafios relacionados à gestão de tempo, conciliação do projeto com outras atividades desenvolvidas paralelamente na faculdade e disponibilidade limitada de acesso a ferramentas adequadas, já que dependia dos computadores disponibilizados pela instituição. Ainda assim, todo esse processo foi de grande importância para o meu amadurecimento profissional e pessoal. Por fim, compartilho que a área de QA com a qual mais me identifiquei foi a </a:t>
            </a:r>
            <a:r>
              <a:rPr lang="en-US" b="true" sz="21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elaboração de casos de teste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”.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r">
              <a:lnSpc>
                <a:spcPts val="2940"/>
              </a:lnSpc>
              <a:spcBef>
                <a:spcPct val="0"/>
              </a:spcBef>
            </a:pPr>
          </a:p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— NOGUEIRA CALUÊTE, Fellipe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43677" y="1028700"/>
            <a:ext cx="8800647" cy="2261870"/>
            <a:chOff x="0" y="0"/>
            <a:chExt cx="11734196" cy="301582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529004" y="-38100"/>
              <a:ext cx="9517481" cy="2554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CONCLUSÃO E APRENDIZADOS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459143"/>
              <a:ext cx="11734196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Lições aprendidas &amp; Área de QA com maior identificação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65958" y="7502307"/>
            <a:ext cx="14901639" cy="258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"Fazer parte da Deloitte como residente tecnológico 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redefiniu minha forma de pensar sobre software. Enfrentei desafios reais, prazos reais e um ambiente que 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exigiu muito mais do que o esperado. Foi nesse contexto que desenvolvi maturidade técnica e profissional, aprendendo a equilibrar pressão, agilidade e qualidade. Saio dessa experiência com uma certeza: meu lugar é na</a:t>
            </a:r>
            <a:r>
              <a:rPr lang="en-US" b="true" sz="21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Engenharia de Automação e Testes de API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— onde cada falha tem uma causa raiz esperando para ser descoberta".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— SANTOS DE ARAÚJO, Pedro </a:t>
            </a:r>
          </a:p>
        </p:txBody>
      </p:sp>
    </p:spTree>
  </p:cSld>
  <p:clrMapOvr>
    <a:masterClrMapping/>
  </p:clrMapOvr>
  <p:transition spd="slow">
    <p:cover dir="l"/>
  </p:transition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17380604" y="1648430"/>
            <a:ext cx="2048089" cy="10535002"/>
            <a:chOff x="0" y="0"/>
            <a:chExt cx="539414" cy="27746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14" cy="2774651"/>
            </a:xfrm>
            <a:custGeom>
              <a:avLst/>
              <a:gdLst/>
              <a:ahLst/>
              <a:cxnLst/>
              <a:rect r="r" b="b" t="t" l="l"/>
              <a:pathLst>
                <a:path h="2774651" w="539414">
                  <a:moveTo>
                    <a:pt x="0" y="0"/>
                  </a:moveTo>
                  <a:lnTo>
                    <a:pt x="539414" y="0"/>
                  </a:lnTo>
                  <a:lnTo>
                    <a:pt x="539414" y="2774651"/>
                  </a:lnTo>
                  <a:lnTo>
                    <a:pt x="0" y="277465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9414" cy="282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6884347" y="-896492"/>
            <a:ext cx="2389048" cy="6121644"/>
            <a:chOff x="0" y="0"/>
            <a:chExt cx="629214" cy="1612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214" cy="1612285"/>
            </a:xfrm>
            <a:custGeom>
              <a:avLst/>
              <a:gdLst/>
              <a:ahLst/>
              <a:cxnLst/>
              <a:rect r="r" b="b" t="t" l="l"/>
              <a:pathLst>
                <a:path h="1612285" w="629214">
                  <a:moveTo>
                    <a:pt x="0" y="0"/>
                  </a:moveTo>
                  <a:lnTo>
                    <a:pt x="629214" y="0"/>
                  </a:lnTo>
                  <a:lnTo>
                    <a:pt x="629214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29214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-1495794" y="99149"/>
            <a:ext cx="2038452" cy="10630555"/>
            <a:chOff x="0" y="0"/>
            <a:chExt cx="536876" cy="2799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876" cy="2799817"/>
            </a:xfrm>
            <a:custGeom>
              <a:avLst/>
              <a:gdLst/>
              <a:ahLst/>
              <a:cxnLst/>
              <a:rect r="r" b="b" t="t" l="l"/>
              <a:pathLst>
                <a:path h="2799817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2799817"/>
                  </a:lnTo>
                  <a:lnTo>
                    <a:pt x="0" y="2799817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6876" cy="284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02015" y="3688781"/>
            <a:ext cx="13678236" cy="238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197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“Minha experiência durante esse período foi muito positiva. Aprendi bastante com os mentores e consegui entender melhor como funciona a área de Qualidade de Software na prática.</a:t>
            </a:r>
          </a:p>
          <a:p>
            <a:pPr algn="l">
              <a:lnSpc>
                <a:spcPts val="2767"/>
              </a:lnSpc>
              <a:spcBef>
                <a:spcPct val="0"/>
              </a:spcBef>
            </a:pPr>
            <a:r>
              <a:rPr lang="en-US" sz="197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área com a qual mais me identifiquei foi </a:t>
            </a:r>
            <a:r>
              <a:rPr lang="en-US" b="true" sz="1976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Validação e Verificação (Testes)</a:t>
            </a:r>
            <a:r>
              <a:rPr lang="en-US" sz="197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, pois gostei de conhecer os processos de testes e sua importância para garantir a qualidade do produto”.</a:t>
            </a:r>
          </a:p>
          <a:p>
            <a:pPr algn="l">
              <a:lnSpc>
                <a:spcPts val="2767"/>
              </a:lnSpc>
              <a:spcBef>
                <a:spcPct val="0"/>
              </a:spcBef>
            </a:pPr>
          </a:p>
          <a:p>
            <a:pPr algn="r">
              <a:lnSpc>
                <a:spcPts val="2767"/>
              </a:lnSpc>
              <a:spcBef>
                <a:spcPct val="0"/>
              </a:spcBef>
            </a:pPr>
          </a:p>
          <a:p>
            <a:pPr algn="r">
              <a:lnSpc>
                <a:spcPts val="2767"/>
              </a:lnSpc>
              <a:spcBef>
                <a:spcPct val="0"/>
              </a:spcBef>
            </a:pPr>
            <a:r>
              <a:rPr lang="en-US" sz="1976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— RUFINO TAVARES, Matheus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43677" y="1028700"/>
            <a:ext cx="8800647" cy="2261870"/>
            <a:chOff x="0" y="0"/>
            <a:chExt cx="11734196" cy="301582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529004" y="-38100"/>
              <a:ext cx="9517481" cy="2554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00"/>
                </a:lnSpc>
              </a:pPr>
              <a:r>
                <a:rPr lang="en-US" sz="6800" spc="-374">
                  <a:solidFill>
                    <a:srgbClr val="07437A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CONCLUSÃO E APRENDIZADOS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459143"/>
              <a:ext cx="11734196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i="true">
                  <a:solidFill>
                    <a:srgbClr val="07437A"/>
                  </a:solidFill>
                  <a:latin typeface="TT Firs Neue Italics"/>
                  <a:ea typeface="TT Firs Neue Italics"/>
                  <a:cs typeface="TT Firs Neue Italics"/>
                  <a:sym typeface="TT Firs Neue Italics"/>
                </a:rPr>
                <a:t>Lições aprendidas &amp; Área de QA com maior identificação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02015" y="6410409"/>
            <a:ext cx="13836949" cy="351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"Durante essas semanas de aprendizado juntamente com os mentores, Ítalo e Renan, aprendi sobre conceitos e aplicações de testes fundamentais para que um softwar</a:t>
            </a:r>
            <a:r>
              <a:rPr lang="en-US" sz="19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 atenda aos requisitos e verdadeiramente cumprir o significado de qualidade . Uma das coisas que mais me chamou atenção durante o aprendizado, foi aprender o modelo Gherkin na criação dos cenários e casos de testes, uma experiência diferente da qual já tinha trabalhado com a CESAR School (E2E).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área que mais me chamou a atenção foi a de</a:t>
            </a:r>
            <a:r>
              <a:rPr lang="en-US" b="true" sz="19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Documentação de Requisitos</a:t>
            </a:r>
            <a:r>
              <a:rPr lang="en-US" sz="19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, onde é definido as histórias dos usuários, e o que é essencial para o software ser funcional e proporcionar qualidade”.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7437A"/>
                </a:solidFill>
                <a:latin typeface="TT Firs Neue"/>
                <a:ea typeface="TT Firs Neue"/>
                <a:cs typeface="TT Firs Neue"/>
                <a:sym typeface="TT Firs Neue"/>
              </a:rPr>
              <a:t>— DA SILVA, Wenderson </a:t>
            </a:r>
          </a:p>
        </p:txBody>
      </p:sp>
    </p:spTree>
  </p:cSld>
  <p:clrMapOvr>
    <a:masterClrMapping/>
  </p:clrMapOvr>
  <p:transition spd="slow">
    <p:cover dir="l"/>
  </p:transition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1749" y="266064"/>
            <a:ext cx="6320730" cy="14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sz="5300" spc="-291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QR Code p</a:t>
            </a:r>
            <a:r>
              <a:rPr lang="en-US" sz="5300" spc="-291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ara o Notion </a:t>
            </a:r>
          </a:p>
        </p:txBody>
      </p:sp>
      <p:grpSp>
        <p:nvGrpSpPr>
          <p:cNvPr name="Group 3" id="3"/>
          <p:cNvGrpSpPr/>
          <p:nvPr/>
        </p:nvGrpSpPr>
        <p:grpSpPr>
          <a:xfrm rot="772921">
            <a:off x="17234949" y="-10075549"/>
            <a:ext cx="3481263" cy="13754938"/>
            <a:chOff x="0" y="0"/>
            <a:chExt cx="916876" cy="3622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876" cy="3622700"/>
            </a:xfrm>
            <a:custGeom>
              <a:avLst/>
              <a:gdLst/>
              <a:ahLst/>
              <a:cxnLst/>
              <a:rect r="r" b="b" t="t" l="l"/>
              <a:pathLst>
                <a:path h="3622700" w="916876">
                  <a:moveTo>
                    <a:pt x="0" y="0"/>
                  </a:moveTo>
                  <a:lnTo>
                    <a:pt x="916876" y="0"/>
                  </a:lnTo>
                  <a:lnTo>
                    <a:pt x="916876" y="3622700"/>
                  </a:lnTo>
                  <a:lnTo>
                    <a:pt x="0" y="3622700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16876" cy="367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772921">
            <a:off x="-2093041" y="6375578"/>
            <a:ext cx="3539888" cy="4863275"/>
            <a:chOff x="0" y="0"/>
            <a:chExt cx="932316" cy="1280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2316" cy="1280863"/>
            </a:xfrm>
            <a:custGeom>
              <a:avLst/>
              <a:gdLst/>
              <a:ahLst/>
              <a:cxnLst/>
              <a:rect r="r" b="b" t="t" l="l"/>
              <a:pathLst>
                <a:path h="1280863" w="932316">
                  <a:moveTo>
                    <a:pt x="0" y="0"/>
                  </a:moveTo>
                  <a:lnTo>
                    <a:pt x="932316" y="0"/>
                  </a:lnTo>
                  <a:lnTo>
                    <a:pt x="932316" y="1280863"/>
                  </a:lnTo>
                  <a:lnTo>
                    <a:pt x="0" y="1280863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32316" cy="132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772921">
            <a:off x="16350576" y="2512799"/>
            <a:ext cx="1644215" cy="12549216"/>
            <a:chOff x="0" y="0"/>
            <a:chExt cx="433044" cy="33051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3044" cy="3305143"/>
            </a:xfrm>
            <a:custGeom>
              <a:avLst/>
              <a:gdLst/>
              <a:ahLst/>
              <a:cxnLst/>
              <a:rect r="r" b="b" t="t" l="l"/>
              <a:pathLst>
                <a:path h="3305143" w="433044">
                  <a:moveTo>
                    <a:pt x="0" y="0"/>
                  </a:moveTo>
                  <a:lnTo>
                    <a:pt x="433044" y="0"/>
                  </a:lnTo>
                  <a:lnTo>
                    <a:pt x="433044" y="3305143"/>
                  </a:lnTo>
                  <a:lnTo>
                    <a:pt x="0" y="3305143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33044" cy="335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72921">
            <a:off x="-2022039" y="-1277179"/>
            <a:ext cx="3397885" cy="8773181"/>
            <a:chOff x="0" y="0"/>
            <a:chExt cx="894916" cy="23106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4916" cy="2310632"/>
            </a:xfrm>
            <a:custGeom>
              <a:avLst/>
              <a:gdLst/>
              <a:ahLst/>
              <a:cxnLst/>
              <a:rect r="r" b="b" t="t" l="l"/>
              <a:pathLst>
                <a:path h="2310632" w="894916">
                  <a:moveTo>
                    <a:pt x="0" y="0"/>
                  </a:moveTo>
                  <a:lnTo>
                    <a:pt x="894916" y="0"/>
                  </a:lnTo>
                  <a:lnTo>
                    <a:pt x="894916" y="2310632"/>
                  </a:lnTo>
                  <a:lnTo>
                    <a:pt x="0" y="2310632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94916" cy="2358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965521" y="196502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72921">
            <a:off x="-2035199" y="839609"/>
            <a:ext cx="2038452" cy="13754938"/>
            <a:chOff x="0" y="0"/>
            <a:chExt cx="536876" cy="362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876" cy="3622700"/>
            </a:xfrm>
            <a:custGeom>
              <a:avLst/>
              <a:gdLst/>
              <a:ahLst/>
              <a:cxnLst/>
              <a:rect r="r" b="b" t="t" l="l"/>
              <a:pathLst>
                <a:path h="3622700" w="536876">
                  <a:moveTo>
                    <a:pt x="0" y="0"/>
                  </a:moveTo>
                  <a:lnTo>
                    <a:pt x="536876" y="0"/>
                  </a:lnTo>
                  <a:lnTo>
                    <a:pt x="536876" y="3622700"/>
                  </a:lnTo>
                  <a:lnTo>
                    <a:pt x="0" y="3622700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36876" cy="3670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2921">
            <a:off x="13181433" y="-688345"/>
            <a:ext cx="2864892" cy="13922232"/>
            <a:chOff x="0" y="0"/>
            <a:chExt cx="754539" cy="36667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4539" cy="3666761"/>
            </a:xfrm>
            <a:custGeom>
              <a:avLst/>
              <a:gdLst/>
              <a:ahLst/>
              <a:cxnLst/>
              <a:rect r="r" b="b" t="t" l="l"/>
              <a:pathLst>
                <a:path h="3666761" w="754539">
                  <a:moveTo>
                    <a:pt x="0" y="0"/>
                  </a:moveTo>
                  <a:lnTo>
                    <a:pt x="754539" y="0"/>
                  </a:lnTo>
                  <a:lnTo>
                    <a:pt x="754539" y="3666761"/>
                  </a:lnTo>
                  <a:lnTo>
                    <a:pt x="0" y="3666761"/>
                  </a:lnTo>
                  <a:close/>
                </a:path>
              </a:pathLst>
            </a:custGeom>
            <a:solidFill>
              <a:srgbClr val="CEE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54539" cy="3714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72921">
            <a:off x="16132852" y="-1078115"/>
            <a:ext cx="1587912" cy="6121644"/>
            <a:chOff x="0" y="0"/>
            <a:chExt cx="418215" cy="1612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8215" cy="1612285"/>
            </a:xfrm>
            <a:custGeom>
              <a:avLst/>
              <a:gdLst/>
              <a:ahLst/>
              <a:cxnLst/>
              <a:rect r="r" b="b" t="t" l="l"/>
              <a:pathLst>
                <a:path h="1612285" w="418215">
                  <a:moveTo>
                    <a:pt x="0" y="0"/>
                  </a:moveTo>
                  <a:lnTo>
                    <a:pt x="418215" y="0"/>
                  </a:lnTo>
                  <a:lnTo>
                    <a:pt x="418215" y="1612285"/>
                  </a:lnTo>
                  <a:lnTo>
                    <a:pt x="0" y="1612285"/>
                  </a:lnTo>
                  <a:close/>
                </a:path>
              </a:pathLst>
            </a:custGeom>
            <a:solidFill>
              <a:srgbClr val="A2D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8215" cy="165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36980" y="1638806"/>
            <a:ext cx="7799503" cy="6416760"/>
            <a:chOff x="0" y="0"/>
            <a:chExt cx="1321798" cy="10874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1798" cy="1087462"/>
            </a:xfrm>
            <a:custGeom>
              <a:avLst/>
              <a:gdLst/>
              <a:ahLst/>
              <a:cxnLst/>
              <a:rect r="r" b="b" t="t" l="l"/>
              <a:pathLst>
                <a:path h="1087462" w="1321798">
                  <a:moveTo>
                    <a:pt x="43675" y="0"/>
                  </a:moveTo>
                  <a:lnTo>
                    <a:pt x="1278123" y="0"/>
                  </a:lnTo>
                  <a:cubicBezTo>
                    <a:pt x="1302244" y="0"/>
                    <a:pt x="1321798" y="19554"/>
                    <a:pt x="1321798" y="43675"/>
                  </a:cubicBezTo>
                  <a:lnTo>
                    <a:pt x="1321798" y="1043786"/>
                  </a:lnTo>
                  <a:cubicBezTo>
                    <a:pt x="1321798" y="1067908"/>
                    <a:pt x="1302244" y="1087462"/>
                    <a:pt x="1278123" y="1087462"/>
                  </a:cubicBezTo>
                  <a:lnTo>
                    <a:pt x="43675" y="1087462"/>
                  </a:lnTo>
                  <a:cubicBezTo>
                    <a:pt x="19554" y="1087462"/>
                    <a:pt x="0" y="1067908"/>
                    <a:pt x="0" y="1043786"/>
                  </a:cubicBezTo>
                  <a:lnTo>
                    <a:pt x="0" y="43675"/>
                  </a:lnTo>
                  <a:cubicBezTo>
                    <a:pt x="0" y="19554"/>
                    <a:pt x="19554" y="0"/>
                    <a:pt x="43675" y="0"/>
                  </a:cubicBezTo>
                  <a:close/>
                </a:path>
              </a:pathLst>
            </a:custGeom>
            <a:blipFill>
              <a:blip r:embed="rId2"/>
              <a:stretch>
                <a:fillRect l="-11703" t="0" r="-1170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52914" y="6956416"/>
            <a:ext cx="6967636" cy="1719182"/>
            <a:chOff x="0" y="0"/>
            <a:chExt cx="1835097" cy="4527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35097" cy="452789"/>
            </a:xfrm>
            <a:custGeom>
              <a:avLst/>
              <a:gdLst/>
              <a:ahLst/>
              <a:cxnLst/>
              <a:rect r="r" b="b" t="t" l="l"/>
              <a:pathLst>
                <a:path h="45278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F5F6F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912929" y="3952316"/>
            <a:ext cx="6422015" cy="234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94"/>
              </a:lnSpc>
            </a:pPr>
            <a:r>
              <a:rPr lang="en-US" sz="8294" spc="-456">
                <a:solidFill>
                  <a:srgbClr val="07437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Muito Obrigado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18588" y="7349282"/>
            <a:ext cx="603628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Quality Assur</a:t>
            </a:r>
            <a:r>
              <a:rPr lang="en-US" b="true" sz="2000">
                <a:solidFill>
                  <a:srgbClr val="07437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ance (QA)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Atividades focadas em proporcionar confiança de que os requisitos de qualidade serão cumpridos.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DAHKTnjuTwo</dc:identifier>
  <dcterms:modified xsi:type="dcterms:W3CDTF">2011-08-01T06:04:30Z</dcterms:modified>
  <cp:revision>1</cp:revision>
  <dc:title>Grupo 3 | Residência 2026.1 | Deloitte | QA</dc:title>
</cp:coreProperties>
</file>